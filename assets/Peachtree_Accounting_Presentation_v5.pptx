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type="screen16x9" cy="6858000" cx="12192000"/>
  <p:notesSz cx="6858000" cy="12192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tableStyles" Target="tableStyles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22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923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92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2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92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0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9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6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3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Orb 1"/>
          <p:cNvSpPr/>
          <p:nvPr/>
        </p:nvSpPr>
        <p:spPr>
          <a:xfrm>
            <a:off x="7863840" y="-1280160"/>
            <a:ext cx="5852160" cy="5852160"/>
          </a:xfrm>
          <a:prstGeom prst="ellipse"/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1048665" name="Orb 2"/>
          <p:cNvSpPr/>
          <p:nvPr/>
        </p:nvSpPr>
        <p:spPr>
          <a:xfrm>
            <a:off x="9326880" y="3108960"/>
            <a:ext cx="4206240" cy="4206240"/>
          </a:xfrm>
          <a:prstGeom prst="ellipse"/>
          <a:solidFill>
            <a:srgbClr val="2563EB">
              <a:alpha val="30000"/>
            </a:srgbClr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1048666" name="Orb 3"/>
          <p:cNvSpPr/>
          <p:nvPr/>
        </p:nvSpPr>
        <p:spPr>
          <a:xfrm>
            <a:off x="6949440" y="4480560"/>
            <a:ext cx="1463040" cy="1463040"/>
          </a:xfrm>
          <a:prstGeom prst="ellipse"/>
          <a:solidFill>
            <a:srgbClr val="F59E0B">
              <a:alpha val="25000"/>
            </a:srgbClr>
          </a:solidFill>
          <a:ln w="12700">
            <a:solidFill>
              <a:srgbClr val="F59E0B">
                <a:alpha val="25000"/>
              </a:srgbClr>
            </a:solidFill>
            <a:prstDash val="solid"/>
          </a:ln>
        </p:spPr>
      </p:sp>
      <p:pic>
        <p:nvPicPr>
          <p:cNvPr id="209715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731520" y="1280160"/>
            <a:ext cx="822960" cy="822960"/>
          </a:xfrm>
          <a:prstGeom prst="rect"/>
        </p:spPr>
      </p:pic>
      <p:sp>
        <p:nvSpPr>
          <p:cNvPr id="1048667" name="Text 3"/>
          <p:cNvSpPr txBox="1"/>
          <p:nvPr/>
        </p:nvSpPr>
        <p:spPr>
          <a:xfrm>
            <a:off x="731520" y="228600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400" kern="0" lang="en-US" spc="400">
                <a:solidFill>
                  <a:srgbClr val="14B8A6"/>
                </a:solidFill>
              </a:rPr>
              <a:t>COMPUTERIZED ACCOUNTING SOFTWARE</a:t>
            </a:r>
            <a:endParaRPr dirty="0" sz="1400" lang="en-US"/>
          </a:p>
        </p:txBody>
      </p:sp>
      <p:sp>
        <p:nvSpPr>
          <p:cNvPr id="1048668" name="Text 4"/>
          <p:cNvSpPr txBox="1"/>
          <p:nvPr/>
        </p:nvSpPr>
        <p:spPr>
          <a:xfrm>
            <a:off x="731520" y="2697480"/>
            <a:ext cx="86868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600" lang="en-US">
                <a:solidFill>
                  <a:srgbClr val="FFFFFF"/>
                </a:solidFill>
              </a:rPr>
              <a:t>Benefits and Core Tasks in Peachtree</a:t>
            </a:r>
            <a:endParaRPr dirty="0" sz="4600" lang="en-US"/>
          </a:p>
        </p:txBody>
      </p:sp>
      <p:sp>
        <p:nvSpPr>
          <p:cNvPr id="1048669" name="Text 5"/>
          <p:cNvSpPr txBox="1"/>
          <p:nvPr/>
        </p:nvSpPr>
        <p:spPr>
          <a:xfrm>
            <a:off x="731520" y="4434840"/>
            <a:ext cx="822960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800" lang="en-US">
                <a:solidFill>
                  <a:srgbClr val="CBD5E1"/>
                </a:solidFill>
              </a:rPr>
              <a:t>Selling  •  Purchasing  •  Payroll  •  Inventory  •  Reports</a:t>
            </a:r>
            <a:endParaRPr dirty="0" sz="1800" lang="en-US"/>
          </a:p>
        </p:txBody>
      </p:sp>
      <p:sp>
        <p:nvSpPr>
          <p:cNvPr id="1048670" name="Shape 6"/>
          <p:cNvSpPr/>
          <p:nvPr/>
        </p:nvSpPr>
        <p:spPr>
          <a:xfrm>
            <a:off x="731520" y="4297680"/>
            <a:ext cx="1280160" cy="54864"/>
          </a:xfrm>
          <a:prstGeom prst="rect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6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6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6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2097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2097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6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6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6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675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BENEFITS</a:t>
            </a:r>
            <a:endParaRPr dirty="0" sz="1200" lang="en-US"/>
          </a:p>
        </p:txBody>
      </p:sp>
      <p:sp>
        <p:nvSpPr>
          <p:cNvPr id="1048676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Why use computerized accounting software?</a:t>
            </a:r>
            <a:endParaRPr dirty="0" sz="3200" lang="en-US"/>
          </a:p>
        </p:txBody>
      </p:sp>
      <p:sp>
        <p:nvSpPr>
          <p:cNvPr id="1048677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2</a:t>
            </a:r>
            <a:endParaRPr dirty="0" sz="1100" lang="en-US"/>
          </a:p>
        </p:txBody>
      </p:sp>
      <p:sp>
        <p:nvSpPr>
          <p:cNvPr id="1048678" name="Benefit card 1"/>
          <p:cNvSpPr/>
          <p:nvPr/>
        </p:nvSpPr>
        <p:spPr>
          <a:xfrm>
            <a:off x="640080" y="173736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79" name="Shape 5"/>
          <p:cNvSpPr/>
          <p:nvPr/>
        </p:nvSpPr>
        <p:spPr>
          <a:xfrm>
            <a:off x="914400" y="1737360"/>
            <a:ext cx="822960" cy="64008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680" name="Shape 6"/>
          <p:cNvSpPr/>
          <p:nvPr/>
        </p:nvSpPr>
        <p:spPr>
          <a:xfrm>
            <a:off x="914400" y="2103120"/>
            <a:ext cx="914400" cy="914400"/>
          </a:xfrm>
          <a:prstGeom prst="ellipse"/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pic>
        <p:nvPicPr>
          <p:cNvPr id="209716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143000" y="2331720"/>
            <a:ext cx="457200" cy="457200"/>
          </a:xfrm>
          <a:prstGeom prst="rect"/>
        </p:spPr>
      </p:pic>
      <p:sp>
        <p:nvSpPr>
          <p:cNvPr id="1048681" name="Text 7"/>
          <p:cNvSpPr txBox="1"/>
          <p:nvPr/>
        </p:nvSpPr>
        <p:spPr>
          <a:xfrm>
            <a:off x="914400" y="3246120"/>
            <a:ext cx="20574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Timely &amp; Accurate Information</a:t>
            </a:r>
            <a:endParaRPr dirty="0" sz="1800" lang="en-US"/>
          </a:p>
        </p:txBody>
      </p:sp>
      <p:sp>
        <p:nvSpPr>
          <p:cNvPr id="1048682" name="Text 8"/>
          <p:cNvSpPr txBox="1"/>
          <p:nvPr/>
        </p:nvSpPr>
        <p:spPr>
          <a:xfrm>
            <a:off x="914400" y="4114800"/>
            <a:ext cx="20574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Accurate financial reports arrive on time, so managers can analyze data, judge performance and decide with confidence.</a:t>
            </a:r>
            <a:endParaRPr dirty="0" sz="1300" lang="en-US"/>
          </a:p>
        </p:txBody>
      </p:sp>
      <p:sp>
        <p:nvSpPr>
          <p:cNvPr id="1048683" name="Benefit card 2"/>
          <p:cNvSpPr/>
          <p:nvPr/>
        </p:nvSpPr>
        <p:spPr>
          <a:xfrm>
            <a:off x="3419856" y="173736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4" name="Shape 10"/>
          <p:cNvSpPr/>
          <p:nvPr/>
        </p:nvSpPr>
        <p:spPr>
          <a:xfrm>
            <a:off x="3694176" y="1737360"/>
            <a:ext cx="822960" cy="64008"/>
          </a:xfrm>
          <a:prstGeom prst="rect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685" name="Shape 11"/>
          <p:cNvSpPr/>
          <p:nvPr/>
        </p:nvSpPr>
        <p:spPr>
          <a:xfrm>
            <a:off x="3694176" y="2103120"/>
            <a:ext cx="914400" cy="914400"/>
          </a:xfrm>
          <a:prstGeom prst="ellipse"/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pic>
        <p:nvPicPr>
          <p:cNvPr id="209716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922776" y="2331720"/>
            <a:ext cx="457200" cy="457200"/>
          </a:xfrm>
          <a:prstGeom prst="rect"/>
        </p:spPr>
      </p:pic>
      <p:sp>
        <p:nvSpPr>
          <p:cNvPr id="1048686" name="Text 12"/>
          <p:cNvSpPr txBox="1"/>
          <p:nvPr/>
        </p:nvSpPr>
        <p:spPr>
          <a:xfrm>
            <a:off x="3694176" y="3246120"/>
            <a:ext cx="20574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Cash In &amp; Cash Out</a:t>
            </a:r>
            <a:endParaRPr dirty="0" sz="1800" lang="en-US"/>
          </a:p>
        </p:txBody>
      </p:sp>
      <p:sp>
        <p:nvSpPr>
          <p:cNvPr id="1048687" name="Text 13"/>
          <p:cNvSpPr txBox="1"/>
          <p:nvPr/>
        </p:nvSpPr>
        <p:spPr>
          <a:xfrm>
            <a:off x="3694176" y="4114800"/>
            <a:ext cx="20574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Track money earned from sales and services, and money spent on goods and needs from vendors.</a:t>
            </a:r>
            <a:endParaRPr dirty="0" sz="1300" lang="en-US"/>
          </a:p>
        </p:txBody>
      </p:sp>
      <p:sp>
        <p:nvSpPr>
          <p:cNvPr id="1048688" name="Benefit card 3"/>
          <p:cNvSpPr/>
          <p:nvPr/>
        </p:nvSpPr>
        <p:spPr>
          <a:xfrm>
            <a:off x="6199632" y="173736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89" name="Shape 15"/>
          <p:cNvSpPr/>
          <p:nvPr/>
        </p:nvSpPr>
        <p:spPr>
          <a:xfrm>
            <a:off x="6473952" y="1737360"/>
            <a:ext cx="822960" cy="64008"/>
          </a:xfrm>
          <a:prstGeom prst="rect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690" name="Shape 16"/>
          <p:cNvSpPr/>
          <p:nvPr/>
        </p:nvSpPr>
        <p:spPr>
          <a:xfrm>
            <a:off x="6473952" y="2103120"/>
            <a:ext cx="914400" cy="914400"/>
          </a:xfrm>
          <a:prstGeom prst="ellipse"/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2097162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02552" y="2331720"/>
            <a:ext cx="457200" cy="457200"/>
          </a:xfrm>
          <a:prstGeom prst="rect"/>
        </p:spPr>
      </p:pic>
      <p:sp>
        <p:nvSpPr>
          <p:cNvPr id="1048691" name="Text 17"/>
          <p:cNvSpPr txBox="1"/>
          <p:nvPr/>
        </p:nvSpPr>
        <p:spPr>
          <a:xfrm>
            <a:off x="6473952" y="3246120"/>
            <a:ext cx="20574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Inventory Management</a:t>
            </a:r>
            <a:endParaRPr dirty="0" sz="1800" lang="en-US"/>
          </a:p>
        </p:txBody>
      </p:sp>
      <p:sp>
        <p:nvSpPr>
          <p:cNvPr id="1048692" name="Text 18"/>
          <p:cNvSpPr txBox="1"/>
          <p:nvPr/>
        </p:nvSpPr>
        <p:spPr>
          <a:xfrm>
            <a:off x="6473952" y="4114800"/>
            <a:ext cx="20574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Know quantities and prices of goods on hand to avoid sudden shortages or needless overstock.</a:t>
            </a:r>
            <a:endParaRPr dirty="0" sz="1300" lang="en-US"/>
          </a:p>
        </p:txBody>
      </p:sp>
      <p:sp>
        <p:nvSpPr>
          <p:cNvPr id="1048693" name="Benefit card 4"/>
          <p:cNvSpPr/>
          <p:nvPr/>
        </p:nvSpPr>
        <p:spPr>
          <a:xfrm>
            <a:off x="8979408" y="1737360"/>
            <a:ext cx="2560320" cy="41148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94" name="Shape 20"/>
          <p:cNvSpPr/>
          <p:nvPr/>
        </p:nvSpPr>
        <p:spPr>
          <a:xfrm>
            <a:off x="9253728" y="1737360"/>
            <a:ext cx="822960" cy="64008"/>
          </a:xfrm>
          <a:prstGeom prst="rect"/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8695" name="Shape 21"/>
          <p:cNvSpPr/>
          <p:nvPr/>
        </p:nvSpPr>
        <p:spPr>
          <a:xfrm>
            <a:off x="9253728" y="2103120"/>
            <a:ext cx="914400" cy="914400"/>
          </a:xfrm>
          <a:prstGeom prst="ellipse"/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pic>
        <p:nvPicPr>
          <p:cNvPr id="2097163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482328" y="2331720"/>
            <a:ext cx="457200" cy="457200"/>
          </a:xfrm>
          <a:prstGeom prst="rect"/>
        </p:spPr>
      </p:pic>
      <p:sp>
        <p:nvSpPr>
          <p:cNvPr id="1048696" name="Text 22"/>
          <p:cNvSpPr txBox="1"/>
          <p:nvPr/>
        </p:nvSpPr>
        <p:spPr>
          <a:xfrm>
            <a:off x="9253728" y="3246120"/>
            <a:ext cx="20574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Payroll Made Easy</a:t>
            </a:r>
            <a:endParaRPr dirty="0" sz="1800" lang="en-US"/>
          </a:p>
        </p:txBody>
      </p:sp>
      <p:sp>
        <p:nvSpPr>
          <p:cNvPr id="1048697" name="Text 23"/>
          <p:cNvSpPr txBox="1"/>
          <p:nvPr/>
        </p:nvSpPr>
        <p:spPr>
          <a:xfrm>
            <a:off x="9253728" y="4114800"/>
            <a:ext cx="20574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Calculate hours and base pay, deductions, taxes and benefits, and produce related tax documents.</a:t>
            </a:r>
            <a:endParaRPr dirty="0" sz="13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6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6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6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6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6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2097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2097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6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6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6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6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6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6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6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6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6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2097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2097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6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6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6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6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6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6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6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6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6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2097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2097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6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6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6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6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6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6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6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10" presetSubtype="0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1"/>
                                        <p:tgtEl>
                                          <p:spTgt spid="10486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2"/>
                                        <p:tgtEl>
                                          <p:spTgt spid="1048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3" nodeType="withEffect" presetClass="entr" presetID="10" presetSubtype="0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5"/>
                                        <p:tgtEl>
                                          <p:spTgt spid="2097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6"/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10" presetSubtype="0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9"/>
                                        <p:tgtEl>
                                          <p:spTgt spid="10486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0"/>
                                        <p:tgtEl>
                                          <p:spTgt spid="10486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1" nodeType="withEffect" presetClass="entr" presetID="10" presetSubtype="0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3"/>
                                        <p:tgtEl>
                                          <p:spTgt spid="10486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4"/>
                                        <p:tgtEl>
                                          <p:spTgt spid="10486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1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02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BENEFITS</a:t>
            </a:r>
            <a:endParaRPr dirty="0" sz="1200" lang="en-US"/>
          </a:p>
        </p:txBody>
      </p:sp>
      <p:sp>
        <p:nvSpPr>
          <p:cNvPr id="1048703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Stronger control, trust and funding</a:t>
            </a:r>
            <a:endParaRPr dirty="0" sz="3200" lang="en-US"/>
          </a:p>
        </p:txBody>
      </p:sp>
      <p:sp>
        <p:nvSpPr>
          <p:cNvPr id="1048704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3</a:t>
            </a:r>
            <a:endParaRPr dirty="0" sz="1100" lang="en-US"/>
          </a:p>
        </p:txBody>
      </p:sp>
      <p:sp>
        <p:nvSpPr>
          <p:cNvPr id="1048705" name="Row card 1"/>
          <p:cNvSpPr/>
          <p:nvPr/>
        </p:nvSpPr>
        <p:spPr>
          <a:xfrm>
            <a:off x="640080" y="173736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06" name="Shape 5"/>
          <p:cNvSpPr/>
          <p:nvPr/>
        </p:nvSpPr>
        <p:spPr>
          <a:xfrm>
            <a:off x="868680" y="2011680"/>
            <a:ext cx="822960" cy="822960"/>
          </a:xfrm>
          <a:prstGeom prst="ellipse"/>
          <a:solidFill>
            <a:srgbClr val="14B8A6">
              <a:alpha val="15000"/>
            </a:srgbClr>
          </a:solidFill>
          <a:ln w="12700">
            <a:solidFill>
              <a:srgbClr val="14B8A6">
                <a:alpha val="15000"/>
              </a:srgbClr>
            </a:solidFill>
            <a:prstDash val="solid"/>
          </a:ln>
        </p:spPr>
      </p:sp>
      <p:pic>
        <p:nvPicPr>
          <p:cNvPr id="2097164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69848" y="2212848"/>
            <a:ext cx="420624" cy="420624"/>
          </a:xfrm>
          <a:prstGeom prst="rect"/>
        </p:spPr>
      </p:pic>
      <p:sp>
        <p:nvSpPr>
          <p:cNvPr id="1048707" name="Text 6"/>
          <p:cNvSpPr txBox="1"/>
          <p:nvPr/>
        </p:nvSpPr>
        <p:spPr>
          <a:xfrm>
            <a:off x="1920240" y="1920240"/>
            <a:ext cx="5212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Efficiency &amp; internal control</a:t>
            </a:r>
            <a:endParaRPr dirty="0" sz="1800" lang="en-US"/>
          </a:p>
        </p:txBody>
      </p:sp>
      <p:sp>
        <p:nvSpPr>
          <p:cNvPr id="1048708" name="Text 7"/>
          <p:cNvSpPr txBox="1"/>
          <p:nvPr/>
        </p:nvSpPr>
        <p:spPr>
          <a:xfrm>
            <a:off x="1920240" y="2304288"/>
            <a:ext cx="5212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Daily activities run more effectively. Clear procedures and defined policies protect assets and reduce errors or misappropriation.</a:t>
            </a:r>
            <a:endParaRPr dirty="0" sz="1300" lang="en-US"/>
          </a:p>
        </p:txBody>
      </p:sp>
      <p:sp>
        <p:nvSpPr>
          <p:cNvPr id="1048709" name="Row card 2"/>
          <p:cNvSpPr/>
          <p:nvPr/>
        </p:nvSpPr>
        <p:spPr>
          <a:xfrm>
            <a:off x="640080" y="329184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0" name="Shape 9"/>
          <p:cNvSpPr/>
          <p:nvPr/>
        </p:nvSpPr>
        <p:spPr>
          <a:xfrm>
            <a:off x="868680" y="3566160"/>
            <a:ext cx="822960" cy="822960"/>
          </a:xfrm>
          <a:prstGeom prst="ellipse"/>
          <a:solidFill>
            <a:srgbClr val="2563EB">
              <a:alpha val="15000"/>
            </a:srgbClr>
          </a:solidFill>
          <a:ln w="12700">
            <a:solidFill>
              <a:srgbClr val="2563EB">
                <a:alpha val="15000"/>
              </a:srgbClr>
            </a:solidFill>
            <a:prstDash val="solid"/>
          </a:ln>
        </p:spPr>
      </p:sp>
      <p:pic>
        <p:nvPicPr>
          <p:cNvPr id="2097165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069848" y="3767328"/>
            <a:ext cx="420624" cy="420624"/>
          </a:xfrm>
          <a:prstGeom prst="rect"/>
        </p:spPr>
      </p:pic>
      <p:sp>
        <p:nvSpPr>
          <p:cNvPr id="1048711" name="Text 10"/>
          <p:cNvSpPr txBox="1"/>
          <p:nvPr/>
        </p:nvSpPr>
        <p:spPr>
          <a:xfrm>
            <a:off x="1920240" y="3474720"/>
            <a:ext cx="5212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Reliable financial statements</a:t>
            </a:r>
            <a:endParaRPr dirty="0" sz="1800" lang="en-US"/>
          </a:p>
        </p:txBody>
      </p:sp>
      <p:sp>
        <p:nvSpPr>
          <p:cNvPr id="1048712" name="Text 11"/>
          <p:cNvSpPr txBox="1"/>
          <p:nvPr/>
        </p:nvSpPr>
        <p:spPr>
          <a:xfrm>
            <a:off x="1920240" y="3858768"/>
            <a:ext cx="5212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Better-controlled data raises confidence in the statements the business produces.</a:t>
            </a:r>
            <a:endParaRPr dirty="0" sz="1300" lang="en-US"/>
          </a:p>
        </p:txBody>
      </p:sp>
      <p:sp>
        <p:nvSpPr>
          <p:cNvPr id="1048713" name="Row card 3"/>
          <p:cNvSpPr/>
          <p:nvPr/>
        </p:nvSpPr>
        <p:spPr>
          <a:xfrm>
            <a:off x="640080" y="4846320"/>
            <a:ext cx="66751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14" name="Shape 13"/>
          <p:cNvSpPr/>
          <p:nvPr/>
        </p:nvSpPr>
        <p:spPr>
          <a:xfrm>
            <a:off x="868680" y="5120640"/>
            <a:ext cx="822960" cy="822960"/>
          </a:xfrm>
          <a:prstGeom prst="ellipse"/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2097166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69848" y="5321808"/>
            <a:ext cx="420624" cy="420624"/>
          </a:xfrm>
          <a:prstGeom prst="rect"/>
        </p:spPr>
      </p:pic>
      <p:sp>
        <p:nvSpPr>
          <p:cNvPr id="1048715" name="Text 14"/>
          <p:cNvSpPr txBox="1"/>
          <p:nvPr/>
        </p:nvSpPr>
        <p:spPr>
          <a:xfrm>
            <a:off x="1920240" y="5029200"/>
            <a:ext cx="521208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0B1F3A"/>
                </a:solidFill>
              </a:rPr>
              <a:t>Easier external dealings</a:t>
            </a:r>
            <a:endParaRPr dirty="0" sz="1800" lang="en-US"/>
          </a:p>
        </p:txBody>
      </p:sp>
      <p:sp>
        <p:nvSpPr>
          <p:cNvPr id="1048716" name="Text 15"/>
          <p:cNvSpPr txBox="1"/>
          <p:nvPr/>
        </p:nvSpPr>
        <p:spPr>
          <a:xfrm>
            <a:off x="1920240" y="5413248"/>
            <a:ext cx="521208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475569"/>
                </a:solidFill>
              </a:rPr>
              <a:t>Regular, trustworthy statements make it easier to obtain bank loans and financing.</a:t>
            </a:r>
            <a:endParaRPr dirty="0" sz="1300" lang="en-US"/>
          </a:p>
        </p:txBody>
      </p:sp>
      <p:sp>
        <p:nvSpPr>
          <p:cNvPr id="1048717" name="Rule panel"/>
          <p:cNvSpPr/>
          <p:nvPr/>
        </p:nvSpPr>
        <p:spPr>
          <a:xfrm>
            <a:off x="7680960" y="1737360"/>
            <a:ext cx="3840480" cy="4480560"/>
          </a:xfrm>
          <a:prstGeom prst="roundRect">
            <a:avLst>
              <a:gd name="adj" fmla="val 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67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9098280" y="2057400"/>
            <a:ext cx="1005840" cy="1005840"/>
          </a:xfrm>
          <a:prstGeom prst="rect"/>
        </p:spPr>
      </p:pic>
      <p:sp>
        <p:nvSpPr>
          <p:cNvPr id="1048718" name="Text 17"/>
          <p:cNvSpPr txBox="1"/>
          <p:nvPr/>
        </p:nvSpPr>
        <p:spPr>
          <a:xfrm>
            <a:off x="7955280" y="3291840"/>
            <a:ext cx="3291840" cy="3200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kern="0" lang="en-US" spc="300">
                <a:solidFill>
                  <a:srgbClr val="14B8A6"/>
                </a:solidFill>
              </a:rPr>
              <a:t>BENEFIT / COST RULE</a:t>
            </a:r>
            <a:endParaRPr dirty="0" sz="1300" lang="en-US"/>
          </a:p>
        </p:txBody>
      </p:sp>
      <p:sp>
        <p:nvSpPr>
          <p:cNvPr id="1048719" name="Text 18"/>
          <p:cNvSpPr txBox="1"/>
          <p:nvPr/>
        </p:nvSpPr>
        <p:spPr>
          <a:xfrm>
            <a:off x="7955280" y="3657600"/>
            <a:ext cx="329184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3000" lang="en-US">
                <a:solidFill>
                  <a:srgbClr val="FFFFFF"/>
                </a:solidFill>
              </a:rPr>
              <a:t>Benefits &gt; Costs</a:t>
            </a:r>
            <a:endParaRPr dirty="0" sz="3000" lang="en-US"/>
          </a:p>
        </p:txBody>
      </p:sp>
      <p:sp>
        <p:nvSpPr>
          <p:cNvPr id="1048720" name="Text 19"/>
          <p:cNvSpPr txBox="1"/>
          <p:nvPr/>
        </p:nvSpPr>
        <p:spPr>
          <a:xfrm>
            <a:off x="8046720" y="4434840"/>
            <a:ext cx="3108960" cy="14630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300" lang="en-US">
                <a:solidFill>
                  <a:srgbClr val="CBD5E1"/>
                </a:solidFill>
              </a:rPr>
              <a:t>The benefits gained from the software must exceed the cost of acquiring and implementing it, so it adds real value to the business.</a:t>
            </a:r>
            <a:endParaRPr dirty="0" sz="13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7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7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7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2097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2097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7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7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7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7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7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2097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2097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7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7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7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7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7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7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2097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2097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7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7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7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7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7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7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2097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2097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7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7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7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7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7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25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CORE TASKS</a:t>
            </a:r>
            <a:endParaRPr dirty="0" sz="1200" lang="en-US"/>
          </a:p>
        </p:txBody>
      </p:sp>
      <p:sp>
        <p:nvSpPr>
          <p:cNvPr id="1048726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Five core accounting tasks in the software</a:t>
            </a:r>
            <a:endParaRPr dirty="0" sz="3200" lang="en-US"/>
          </a:p>
        </p:txBody>
      </p:sp>
      <p:sp>
        <p:nvSpPr>
          <p:cNvPr id="1048727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4</a:t>
            </a:r>
            <a:endParaRPr dirty="0" sz="1100" lang="en-US"/>
          </a:p>
        </p:txBody>
      </p:sp>
      <p:sp>
        <p:nvSpPr>
          <p:cNvPr id="1048728" name="Shape 4"/>
          <p:cNvSpPr/>
          <p:nvPr/>
        </p:nvSpPr>
        <p:spPr>
          <a:xfrm>
            <a:off x="1371600" y="2788920"/>
            <a:ext cx="9418320" cy="0"/>
          </a:xfrm>
          <a:prstGeom prst="line"/>
          <a:noFill/>
          <a:ln w="38100">
            <a:solidFill>
              <a:srgbClr val="CBD5E1"/>
            </a:solidFill>
            <a:prstDash val="dash"/>
          </a:ln>
        </p:spPr>
      </p:sp>
      <p:sp>
        <p:nvSpPr>
          <p:cNvPr id="1048729" name="Task circle 1"/>
          <p:cNvSpPr/>
          <p:nvPr/>
        </p:nvSpPr>
        <p:spPr>
          <a:xfrm>
            <a:off x="640080" y="2057400"/>
            <a:ext cx="1463040" cy="1463040"/>
          </a:xfrm>
          <a:prstGeom prst="ellipse"/>
          <a:solidFill>
            <a:srgbClr val="14B8A6"/>
          </a:solidFill>
          <a:ln w="50800">
            <a:solidFill>
              <a:srgbClr val="FFFFFF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6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78992" y="2496312"/>
            <a:ext cx="585216" cy="585216"/>
          </a:xfrm>
          <a:prstGeom prst="rect"/>
        </p:spPr>
      </p:pic>
      <p:sp>
        <p:nvSpPr>
          <p:cNvPr id="1048730" name="Shape 6"/>
          <p:cNvSpPr/>
          <p:nvPr/>
        </p:nvSpPr>
        <p:spPr>
          <a:xfrm>
            <a:off x="1783080" y="1965960"/>
            <a:ext cx="457200" cy="457200"/>
          </a:xfrm>
          <a:prstGeom prst="ellipse"/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8731" name="Text 7"/>
          <p:cNvSpPr txBox="1"/>
          <p:nvPr/>
        </p:nvSpPr>
        <p:spPr>
          <a:xfrm>
            <a:off x="1783080" y="19659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1</a:t>
            </a:r>
            <a:endParaRPr dirty="0" sz="1400" lang="en-US"/>
          </a:p>
        </p:txBody>
      </p:sp>
      <p:sp>
        <p:nvSpPr>
          <p:cNvPr id="1048732" name="Text 8"/>
          <p:cNvSpPr txBox="1"/>
          <p:nvPr/>
        </p:nvSpPr>
        <p:spPr>
          <a:xfrm>
            <a:off x="365760" y="3794760"/>
            <a:ext cx="2011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Selling</a:t>
            </a:r>
            <a:endParaRPr dirty="0" sz="2200" lang="en-US"/>
          </a:p>
        </p:txBody>
      </p:sp>
      <p:sp>
        <p:nvSpPr>
          <p:cNvPr id="1048733" name="Text 9"/>
          <p:cNvSpPr txBox="1"/>
          <p:nvPr/>
        </p:nvSpPr>
        <p:spPr>
          <a:xfrm>
            <a:off x="365760" y="425196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475569"/>
                </a:solidFill>
              </a:rPr>
              <a:t>Goods &amp; services</a:t>
            </a:r>
            <a:endParaRPr dirty="0" sz="1400" lang="en-US"/>
          </a:p>
        </p:txBody>
      </p:sp>
      <p:sp>
        <p:nvSpPr>
          <p:cNvPr id="1048734" name="Task circle 2"/>
          <p:cNvSpPr/>
          <p:nvPr/>
        </p:nvSpPr>
        <p:spPr>
          <a:xfrm>
            <a:off x="2994660" y="2057400"/>
            <a:ext cx="1463040" cy="1463040"/>
          </a:xfrm>
          <a:prstGeom prst="ellipse"/>
          <a:solidFill>
            <a:srgbClr val="2563EB"/>
          </a:solidFill>
          <a:ln w="50800">
            <a:solidFill>
              <a:srgbClr val="FFFFFF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6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3433572" y="2496312"/>
            <a:ext cx="585216" cy="585216"/>
          </a:xfrm>
          <a:prstGeom prst="rect"/>
        </p:spPr>
      </p:pic>
      <p:sp>
        <p:nvSpPr>
          <p:cNvPr id="1048735" name="Shape 11"/>
          <p:cNvSpPr/>
          <p:nvPr/>
        </p:nvSpPr>
        <p:spPr>
          <a:xfrm>
            <a:off x="4137660" y="1965960"/>
            <a:ext cx="457200" cy="457200"/>
          </a:xfrm>
          <a:prstGeom prst="ellipse"/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8736" name="Text 12"/>
          <p:cNvSpPr txBox="1"/>
          <p:nvPr/>
        </p:nvSpPr>
        <p:spPr>
          <a:xfrm>
            <a:off x="4137660" y="19659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2</a:t>
            </a:r>
            <a:endParaRPr dirty="0" sz="1400" lang="en-US"/>
          </a:p>
        </p:txBody>
      </p:sp>
      <p:sp>
        <p:nvSpPr>
          <p:cNvPr id="1048737" name="Text 13"/>
          <p:cNvSpPr txBox="1"/>
          <p:nvPr/>
        </p:nvSpPr>
        <p:spPr>
          <a:xfrm>
            <a:off x="2720340" y="3794760"/>
            <a:ext cx="2011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Purchasing</a:t>
            </a:r>
            <a:endParaRPr dirty="0" sz="2200" lang="en-US"/>
          </a:p>
        </p:txBody>
      </p:sp>
      <p:sp>
        <p:nvSpPr>
          <p:cNvPr id="1048738" name="Text 14"/>
          <p:cNvSpPr txBox="1"/>
          <p:nvPr/>
        </p:nvSpPr>
        <p:spPr>
          <a:xfrm>
            <a:off x="2720340" y="425196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475569"/>
                </a:solidFill>
              </a:rPr>
              <a:t>Orders &amp; payments</a:t>
            </a:r>
            <a:endParaRPr dirty="0" sz="1400" lang="en-US"/>
          </a:p>
        </p:txBody>
      </p:sp>
      <p:sp>
        <p:nvSpPr>
          <p:cNvPr id="1048739" name="Task circle 3"/>
          <p:cNvSpPr/>
          <p:nvPr/>
        </p:nvSpPr>
        <p:spPr>
          <a:xfrm>
            <a:off x="5349240" y="2057400"/>
            <a:ext cx="1463040" cy="1463040"/>
          </a:xfrm>
          <a:prstGeom prst="ellipse"/>
          <a:solidFill>
            <a:srgbClr val="F59E0B"/>
          </a:solidFill>
          <a:ln w="50800">
            <a:solidFill>
              <a:srgbClr val="FFFFFF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7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5788152" y="2496312"/>
            <a:ext cx="585216" cy="585216"/>
          </a:xfrm>
          <a:prstGeom prst="rect"/>
        </p:spPr>
      </p:pic>
      <p:sp>
        <p:nvSpPr>
          <p:cNvPr id="1048740" name="Shape 16"/>
          <p:cNvSpPr/>
          <p:nvPr/>
        </p:nvSpPr>
        <p:spPr>
          <a:xfrm>
            <a:off x="6492240" y="1965960"/>
            <a:ext cx="457200" cy="457200"/>
          </a:xfrm>
          <a:prstGeom prst="ellipse"/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8741" name="Text 17"/>
          <p:cNvSpPr txBox="1"/>
          <p:nvPr/>
        </p:nvSpPr>
        <p:spPr>
          <a:xfrm>
            <a:off x="6492240" y="19659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3</a:t>
            </a:r>
            <a:endParaRPr dirty="0" sz="1400" lang="en-US"/>
          </a:p>
        </p:txBody>
      </p:sp>
      <p:sp>
        <p:nvSpPr>
          <p:cNvPr id="1048742" name="Text 18"/>
          <p:cNvSpPr txBox="1"/>
          <p:nvPr/>
        </p:nvSpPr>
        <p:spPr>
          <a:xfrm>
            <a:off x="5074920" y="3794760"/>
            <a:ext cx="2011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Payroll</a:t>
            </a:r>
            <a:endParaRPr dirty="0" sz="2200" lang="en-US"/>
          </a:p>
        </p:txBody>
      </p:sp>
      <p:sp>
        <p:nvSpPr>
          <p:cNvPr id="1048743" name="Text 19"/>
          <p:cNvSpPr txBox="1"/>
          <p:nvPr/>
        </p:nvSpPr>
        <p:spPr>
          <a:xfrm>
            <a:off x="5074920" y="425196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475569"/>
                </a:solidFill>
              </a:rPr>
              <a:t>Wages &amp; deductions</a:t>
            </a:r>
            <a:endParaRPr dirty="0" sz="1400" lang="en-US"/>
          </a:p>
        </p:txBody>
      </p:sp>
      <p:sp>
        <p:nvSpPr>
          <p:cNvPr id="1048744" name="Task circle 4"/>
          <p:cNvSpPr/>
          <p:nvPr/>
        </p:nvSpPr>
        <p:spPr>
          <a:xfrm>
            <a:off x="7703820" y="2057400"/>
            <a:ext cx="1463040" cy="1463040"/>
          </a:xfrm>
          <a:prstGeom prst="ellipse"/>
          <a:solidFill>
            <a:srgbClr val="7C3AED"/>
          </a:solidFill>
          <a:ln w="50800">
            <a:solidFill>
              <a:srgbClr val="FFFFFF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71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8142732" y="2496312"/>
            <a:ext cx="585216" cy="585216"/>
          </a:xfrm>
          <a:prstGeom prst="rect"/>
        </p:spPr>
      </p:pic>
      <p:sp>
        <p:nvSpPr>
          <p:cNvPr id="1048745" name="Shape 21"/>
          <p:cNvSpPr/>
          <p:nvPr/>
        </p:nvSpPr>
        <p:spPr>
          <a:xfrm>
            <a:off x="8846820" y="1965960"/>
            <a:ext cx="457200" cy="457200"/>
          </a:xfrm>
          <a:prstGeom prst="ellipse"/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8746" name="Text 22"/>
          <p:cNvSpPr txBox="1"/>
          <p:nvPr/>
        </p:nvSpPr>
        <p:spPr>
          <a:xfrm>
            <a:off x="8846820" y="19659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4</a:t>
            </a:r>
            <a:endParaRPr dirty="0" sz="1400" lang="en-US"/>
          </a:p>
        </p:txBody>
      </p:sp>
      <p:sp>
        <p:nvSpPr>
          <p:cNvPr id="1048747" name="Text 23"/>
          <p:cNvSpPr txBox="1"/>
          <p:nvPr/>
        </p:nvSpPr>
        <p:spPr>
          <a:xfrm>
            <a:off x="7429500" y="3794760"/>
            <a:ext cx="2011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Inventory</a:t>
            </a:r>
            <a:endParaRPr dirty="0" sz="2200" lang="en-US"/>
          </a:p>
        </p:txBody>
      </p:sp>
      <p:sp>
        <p:nvSpPr>
          <p:cNvPr id="1048748" name="Text 24"/>
          <p:cNvSpPr txBox="1"/>
          <p:nvPr/>
        </p:nvSpPr>
        <p:spPr>
          <a:xfrm>
            <a:off x="7429500" y="425196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475569"/>
                </a:solidFill>
              </a:rPr>
              <a:t>Track stock levels</a:t>
            </a:r>
            <a:endParaRPr dirty="0" sz="1400" lang="en-US"/>
          </a:p>
        </p:txBody>
      </p:sp>
      <p:sp>
        <p:nvSpPr>
          <p:cNvPr id="1048749" name="Task circle 5"/>
          <p:cNvSpPr/>
          <p:nvPr/>
        </p:nvSpPr>
        <p:spPr>
          <a:xfrm>
            <a:off x="10058400" y="2057400"/>
            <a:ext cx="1463040" cy="1463040"/>
          </a:xfrm>
          <a:prstGeom prst="ellipse"/>
          <a:solidFill>
            <a:srgbClr val="E11D48"/>
          </a:solidFill>
          <a:ln w="50800">
            <a:solidFill>
              <a:srgbClr val="FFFFFF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72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497312" y="2496312"/>
            <a:ext cx="585216" cy="585216"/>
          </a:xfrm>
          <a:prstGeom prst="rect"/>
        </p:spPr>
      </p:pic>
      <p:sp>
        <p:nvSpPr>
          <p:cNvPr id="1048750" name="Shape 26"/>
          <p:cNvSpPr/>
          <p:nvPr/>
        </p:nvSpPr>
        <p:spPr>
          <a:xfrm>
            <a:off x="11201400" y="1965960"/>
            <a:ext cx="457200" cy="457200"/>
          </a:xfrm>
          <a:prstGeom prst="ellipse"/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48751" name="Text 27"/>
          <p:cNvSpPr txBox="1"/>
          <p:nvPr/>
        </p:nvSpPr>
        <p:spPr>
          <a:xfrm>
            <a:off x="11201400" y="196596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</a:rPr>
              <a:t>5</a:t>
            </a:r>
            <a:endParaRPr dirty="0" sz="1400" lang="en-US"/>
          </a:p>
        </p:txBody>
      </p:sp>
      <p:sp>
        <p:nvSpPr>
          <p:cNvPr id="1048752" name="Text 28"/>
          <p:cNvSpPr txBox="1"/>
          <p:nvPr/>
        </p:nvSpPr>
        <p:spPr>
          <a:xfrm>
            <a:off x="9784080" y="3794760"/>
            <a:ext cx="201168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Reports</a:t>
            </a:r>
            <a:endParaRPr dirty="0" sz="2200" lang="en-US"/>
          </a:p>
        </p:txBody>
      </p:sp>
      <p:sp>
        <p:nvSpPr>
          <p:cNvPr id="1048753" name="Text 29"/>
          <p:cNvSpPr txBox="1"/>
          <p:nvPr/>
        </p:nvSpPr>
        <p:spPr>
          <a:xfrm>
            <a:off x="9784080" y="4251960"/>
            <a:ext cx="201168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lang="en-US">
                <a:solidFill>
                  <a:srgbClr val="475569"/>
                </a:solidFill>
              </a:rPr>
              <a:t>Decision making</a:t>
            </a:r>
            <a:endParaRPr dirty="0" sz="1400" lang="en-US"/>
          </a:p>
        </p:txBody>
      </p:sp>
      <p:sp>
        <p:nvSpPr>
          <p:cNvPr id="1048754" name="Shape 30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55" name="Text 31"/>
          <p:cNvSpPr txBox="1"/>
          <p:nvPr/>
        </p:nvSpPr>
        <p:spPr>
          <a:xfrm>
            <a:off x="914400" y="5257800"/>
            <a:ext cx="10332720" cy="7772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600" lang="en-US">
                <a:solidFill>
                  <a:srgbClr val="0B1F3A"/>
                </a:solidFill>
              </a:rPr>
              <a:t>Every task starts from a menu: Tasks, Maintain, or Reports &amp; Forms.</a:t>
            </a:r>
            <a:endParaRPr dirty="0" sz="16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7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7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7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7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2097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2097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7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7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7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7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7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7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7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2097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2097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7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7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7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7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209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209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7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7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7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7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7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7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10" presetSubtype="0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1"/>
                                        <p:tgtEl>
                                          <p:spTgt spid="20971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2"/>
                                        <p:tgtEl>
                                          <p:spTgt spid="2097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3" nodeType="withEffect" presetClass="entr" presetID="10" presetSubtype="0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5"/>
                                        <p:tgtEl>
                                          <p:spTgt spid="10487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6"/>
                                        <p:tgtEl>
                                          <p:spTgt spid="10487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10" presetSubtype="0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9"/>
                                        <p:tgtEl>
                                          <p:spTgt spid="10487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0"/>
                                        <p:tgtEl>
                                          <p:spTgt spid="10487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1" nodeType="withEffect" presetClass="entr" presetID="10" presetSubtype="0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3"/>
                                        <p:tgtEl>
                                          <p:spTgt spid="10487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4"/>
                                        <p:tgtEl>
                                          <p:spTgt spid="10487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5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7"/>
                                        <p:tgtEl>
                                          <p:spTgt spid="10487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8"/>
                                        <p:tgtEl>
                                          <p:spTgt spid="1048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9" nodeType="withEffect" presetClass="entr" presetID="10" presetSubtype="0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dur="1" fill="hold" id="1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1"/>
                                        <p:tgtEl>
                                          <p:spTgt spid="10487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2"/>
                                        <p:tgtEl>
                                          <p:spTgt spid="10487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3" nodeType="withEffect" presetClass="entr" presetID="10" presetSubtype="0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dur="1" fill="hold" id="1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5"/>
                                        <p:tgtEl>
                                          <p:spTgt spid="209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6"/>
                                        <p:tgtEl>
                                          <p:spTgt spid="209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9"/>
                                        <p:tgtEl>
                                          <p:spTgt spid="10487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0"/>
                                        <p:tgtEl>
                                          <p:spTgt spid="1048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3"/>
                                        <p:tgtEl>
                                          <p:spTgt spid="10487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4"/>
                                        <p:tgtEl>
                                          <p:spTgt spid="1048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7"/>
                                        <p:tgtEl>
                                          <p:spTgt spid="10487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8"/>
                                        <p:tgtEl>
                                          <p:spTgt spid="1048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1"/>
                                        <p:tgtEl>
                                          <p:spTgt spid="10487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2"/>
                                        <p:tgtEl>
                                          <p:spTgt spid="1048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5"/>
                                        <p:tgtEl>
                                          <p:spTgt spid="10487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6"/>
                                        <p:tgtEl>
                                          <p:spTgt spid="10487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9"/>
                                        <p:tgtEl>
                                          <p:spTgt spid="10487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0"/>
                                        <p:tgtEl>
                                          <p:spTgt spid="10487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60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CORE TASK 1  |  4 STEPS</a:t>
            </a:r>
            <a:endParaRPr dirty="0" sz="1200" lang="en-US"/>
          </a:p>
        </p:txBody>
      </p:sp>
      <p:sp>
        <p:nvSpPr>
          <p:cNvPr id="1048761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Task 1: Selling goods and services</a:t>
            </a:r>
            <a:endParaRPr dirty="0" sz="3200" lang="en-US"/>
          </a:p>
        </p:txBody>
      </p:sp>
      <p:sp>
        <p:nvSpPr>
          <p:cNvPr id="1048762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5</a:t>
            </a:r>
            <a:endParaRPr dirty="0" sz="1100" lang="en-US"/>
          </a:p>
        </p:txBody>
      </p:sp>
      <p:sp>
        <p:nvSpPr>
          <p:cNvPr id="1048763" name="Step card 1"/>
          <p:cNvSpPr/>
          <p:nvPr/>
        </p:nvSpPr>
        <p:spPr>
          <a:xfrm>
            <a:off x="452628" y="1737360"/>
            <a:ext cx="2560320" cy="4297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64" name="Shape 5"/>
          <p:cNvSpPr/>
          <p:nvPr/>
        </p:nvSpPr>
        <p:spPr>
          <a:xfrm>
            <a:off x="681228" y="1965960"/>
            <a:ext cx="548640" cy="54864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65" name="Text 6"/>
          <p:cNvSpPr txBox="1"/>
          <p:nvPr/>
        </p:nvSpPr>
        <p:spPr>
          <a:xfrm>
            <a:off x="681228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1</a:t>
            </a:r>
            <a:endParaRPr dirty="0" sz="1800" lang="en-US"/>
          </a:p>
        </p:txBody>
      </p:sp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2235708" y="2011680"/>
            <a:ext cx="457200" cy="457200"/>
          </a:xfrm>
          <a:prstGeom prst="rect"/>
        </p:spPr>
      </p:pic>
      <p:sp>
        <p:nvSpPr>
          <p:cNvPr id="1048766" name="Text 7"/>
          <p:cNvSpPr txBox="1"/>
          <p:nvPr/>
        </p:nvSpPr>
        <p:spPr>
          <a:xfrm>
            <a:off x="681228" y="269748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Sales Orders</a:t>
            </a:r>
            <a:endParaRPr dirty="0" sz="1700" lang="en-US"/>
          </a:p>
        </p:txBody>
      </p:sp>
      <p:sp>
        <p:nvSpPr>
          <p:cNvPr id="1048767" name="Menu path box"/>
          <p:cNvSpPr/>
          <p:nvPr/>
        </p:nvSpPr>
        <p:spPr>
          <a:xfrm>
            <a:off x="681228" y="35661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768" name="Shape 9"/>
          <p:cNvSpPr/>
          <p:nvPr/>
        </p:nvSpPr>
        <p:spPr>
          <a:xfrm>
            <a:off x="790956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769" name="Shape 10"/>
          <p:cNvSpPr/>
          <p:nvPr/>
        </p:nvSpPr>
        <p:spPr>
          <a:xfrm>
            <a:off x="937260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770" name="Shape 11"/>
          <p:cNvSpPr/>
          <p:nvPr/>
        </p:nvSpPr>
        <p:spPr>
          <a:xfrm>
            <a:off x="1083564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771" name="Text 12"/>
          <p:cNvSpPr txBox="1"/>
          <p:nvPr/>
        </p:nvSpPr>
        <p:spPr>
          <a:xfrm>
            <a:off x="790956" y="3749040"/>
            <a:ext cx="188366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Quotes &amp; Sales Orders › Sales Orders</a:t>
            </a:r>
            <a:endParaRPr dirty="0" sz="1050" lang="en-US"/>
          </a:p>
        </p:txBody>
      </p:sp>
      <p:sp>
        <p:nvSpPr>
          <p:cNvPr id="1048772" name="Text 13"/>
          <p:cNvSpPr txBox="1"/>
          <p:nvPr/>
        </p:nvSpPr>
        <p:spPr>
          <a:xfrm>
            <a:off x="681228" y="4434840"/>
            <a:ext cx="210312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Enter the customer ID, address, date, quantity, item description, unit price, tax and shipping charges.</a:t>
            </a:r>
            <a:endParaRPr dirty="0" sz="1250" lang="en-US"/>
          </a:p>
        </p:txBody>
      </p:sp>
      <p:sp>
        <p:nvSpPr>
          <p:cNvPr id="1048773" name="Arrow 1"/>
          <p:cNvSpPr/>
          <p:nvPr/>
        </p:nvSpPr>
        <p:spPr>
          <a:xfrm>
            <a:off x="3054096" y="3749040"/>
            <a:ext cx="256032" cy="411480"/>
          </a:xfrm>
          <a:prstGeom prst="chevron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74" name="Step card 2"/>
          <p:cNvSpPr/>
          <p:nvPr/>
        </p:nvSpPr>
        <p:spPr>
          <a:xfrm>
            <a:off x="3351276" y="1737360"/>
            <a:ext cx="2560320" cy="4297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75" name="Shape 16"/>
          <p:cNvSpPr/>
          <p:nvPr/>
        </p:nvSpPr>
        <p:spPr>
          <a:xfrm>
            <a:off x="3579876" y="1965960"/>
            <a:ext cx="548640" cy="54864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76" name="Text 17"/>
          <p:cNvSpPr txBox="1"/>
          <p:nvPr/>
        </p:nvSpPr>
        <p:spPr>
          <a:xfrm>
            <a:off x="3579876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2</a:t>
            </a:r>
            <a:endParaRPr dirty="0" sz="1800" lang="en-US"/>
          </a:p>
        </p:txBody>
      </p:sp>
      <p:pic>
        <p:nvPicPr>
          <p:cNvPr id="209717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5134356" y="2011680"/>
            <a:ext cx="457200" cy="457200"/>
          </a:xfrm>
          <a:prstGeom prst="rect"/>
        </p:spPr>
      </p:pic>
      <p:sp>
        <p:nvSpPr>
          <p:cNvPr id="1048777" name="Text 18"/>
          <p:cNvSpPr txBox="1"/>
          <p:nvPr/>
        </p:nvSpPr>
        <p:spPr>
          <a:xfrm>
            <a:off x="3579876" y="269748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Sales Invoicing</a:t>
            </a:r>
            <a:endParaRPr dirty="0" sz="1700" lang="en-US"/>
          </a:p>
        </p:txBody>
      </p:sp>
      <p:sp>
        <p:nvSpPr>
          <p:cNvPr id="1048778" name="Menu path box"/>
          <p:cNvSpPr/>
          <p:nvPr/>
        </p:nvSpPr>
        <p:spPr>
          <a:xfrm>
            <a:off x="3579876" y="35661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779" name="Shape 20"/>
          <p:cNvSpPr/>
          <p:nvPr/>
        </p:nvSpPr>
        <p:spPr>
          <a:xfrm>
            <a:off x="3689604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780" name="Shape 21"/>
          <p:cNvSpPr/>
          <p:nvPr/>
        </p:nvSpPr>
        <p:spPr>
          <a:xfrm>
            <a:off x="3835908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781" name="Shape 22"/>
          <p:cNvSpPr/>
          <p:nvPr/>
        </p:nvSpPr>
        <p:spPr>
          <a:xfrm>
            <a:off x="3982212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782" name="Text 23"/>
          <p:cNvSpPr txBox="1"/>
          <p:nvPr/>
        </p:nvSpPr>
        <p:spPr>
          <a:xfrm>
            <a:off x="3689604" y="3749040"/>
            <a:ext cx="188366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Sales Invoices</a:t>
            </a:r>
            <a:endParaRPr dirty="0" sz="1050" lang="en-US"/>
          </a:p>
        </p:txBody>
      </p:sp>
      <p:sp>
        <p:nvSpPr>
          <p:cNvPr id="1048783" name="Text 24"/>
          <p:cNvSpPr txBox="1"/>
          <p:nvPr/>
        </p:nvSpPr>
        <p:spPr>
          <a:xfrm>
            <a:off x="3579876" y="4434840"/>
            <a:ext cx="210312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Invoice from an earlier sales order (Apply to Sales Order) or record a direct sale (Apply to Sales).</a:t>
            </a:r>
            <a:endParaRPr dirty="0" sz="1250" lang="en-US"/>
          </a:p>
        </p:txBody>
      </p:sp>
      <p:sp>
        <p:nvSpPr>
          <p:cNvPr id="1048784" name="Arrow 2"/>
          <p:cNvSpPr/>
          <p:nvPr/>
        </p:nvSpPr>
        <p:spPr>
          <a:xfrm>
            <a:off x="5952744" y="3749040"/>
            <a:ext cx="256032" cy="411480"/>
          </a:xfrm>
          <a:prstGeom prst="chevron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85" name="Step card 3"/>
          <p:cNvSpPr/>
          <p:nvPr/>
        </p:nvSpPr>
        <p:spPr>
          <a:xfrm>
            <a:off x="6249924" y="1737360"/>
            <a:ext cx="2560320" cy="4297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86" name="Shape 27"/>
          <p:cNvSpPr/>
          <p:nvPr/>
        </p:nvSpPr>
        <p:spPr>
          <a:xfrm>
            <a:off x="6478524" y="1965960"/>
            <a:ext cx="548640" cy="54864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87" name="Text 28"/>
          <p:cNvSpPr txBox="1"/>
          <p:nvPr/>
        </p:nvSpPr>
        <p:spPr>
          <a:xfrm>
            <a:off x="6478524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3</a:t>
            </a:r>
            <a:endParaRPr dirty="0" sz="1800" lang="en-US"/>
          </a:p>
        </p:txBody>
      </p:sp>
      <p:pic>
        <p:nvPicPr>
          <p:cNvPr id="209717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033004" y="2011680"/>
            <a:ext cx="457200" cy="457200"/>
          </a:xfrm>
          <a:prstGeom prst="rect"/>
        </p:spPr>
      </p:pic>
      <p:sp>
        <p:nvSpPr>
          <p:cNvPr id="1048788" name="Text 29"/>
          <p:cNvSpPr txBox="1"/>
          <p:nvPr/>
        </p:nvSpPr>
        <p:spPr>
          <a:xfrm>
            <a:off x="6478524" y="269748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Receive Money</a:t>
            </a:r>
            <a:endParaRPr dirty="0" sz="1700" lang="en-US"/>
          </a:p>
        </p:txBody>
      </p:sp>
      <p:sp>
        <p:nvSpPr>
          <p:cNvPr id="1048789" name="Menu path box"/>
          <p:cNvSpPr/>
          <p:nvPr/>
        </p:nvSpPr>
        <p:spPr>
          <a:xfrm>
            <a:off x="6478524" y="35661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790" name="Shape 31"/>
          <p:cNvSpPr/>
          <p:nvPr/>
        </p:nvSpPr>
        <p:spPr>
          <a:xfrm>
            <a:off x="6588252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791" name="Shape 32"/>
          <p:cNvSpPr/>
          <p:nvPr/>
        </p:nvSpPr>
        <p:spPr>
          <a:xfrm>
            <a:off x="6734556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792" name="Shape 33"/>
          <p:cNvSpPr/>
          <p:nvPr/>
        </p:nvSpPr>
        <p:spPr>
          <a:xfrm>
            <a:off x="6880860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793" name="Text 34"/>
          <p:cNvSpPr txBox="1"/>
          <p:nvPr/>
        </p:nvSpPr>
        <p:spPr>
          <a:xfrm>
            <a:off x="6588252" y="3749040"/>
            <a:ext cx="188366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Receive Money</a:t>
            </a:r>
            <a:endParaRPr dirty="0" sz="1050" lang="en-US"/>
          </a:p>
        </p:txBody>
      </p:sp>
      <p:sp>
        <p:nvSpPr>
          <p:cNvPr id="1048794" name="Text 35"/>
          <p:cNvSpPr txBox="1"/>
          <p:nvPr/>
        </p:nvSpPr>
        <p:spPr>
          <a:xfrm>
            <a:off x="6478524" y="4434840"/>
            <a:ext cx="210312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Record cash or check receipts, applied to accumulated invoices or directly to revenue.</a:t>
            </a:r>
            <a:endParaRPr dirty="0" sz="1250" lang="en-US"/>
          </a:p>
        </p:txBody>
      </p:sp>
      <p:sp>
        <p:nvSpPr>
          <p:cNvPr id="1048795" name="Arrow 3"/>
          <p:cNvSpPr/>
          <p:nvPr/>
        </p:nvSpPr>
        <p:spPr>
          <a:xfrm>
            <a:off x="8851392" y="3749040"/>
            <a:ext cx="256032" cy="411480"/>
          </a:xfrm>
          <a:prstGeom prst="chevron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96" name="Step card 4"/>
          <p:cNvSpPr/>
          <p:nvPr/>
        </p:nvSpPr>
        <p:spPr>
          <a:xfrm>
            <a:off x="9148572" y="1737360"/>
            <a:ext cx="2560320" cy="429768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797" name="Shape 38"/>
          <p:cNvSpPr/>
          <p:nvPr/>
        </p:nvSpPr>
        <p:spPr>
          <a:xfrm>
            <a:off x="9377172" y="1965960"/>
            <a:ext cx="548640" cy="54864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798" name="Text 39"/>
          <p:cNvSpPr txBox="1"/>
          <p:nvPr/>
        </p:nvSpPr>
        <p:spPr>
          <a:xfrm>
            <a:off x="9377172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4</a:t>
            </a:r>
            <a:endParaRPr dirty="0" sz="1800" lang="en-US"/>
          </a:p>
        </p:txBody>
      </p:sp>
      <p:pic>
        <p:nvPicPr>
          <p:cNvPr id="209717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0931652" y="2011680"/>
            <a:ext cx="457200" cy="457200"/>
          </a:xfrm>
          <a:prstGeom prst="rect"/>
        </p:spPr>
      </p:pic>
      <p:sp>
        <p:nvSpPr>
          <p:cNvPr id="1048799" name="Text 40"/>
          <p:cNvSpPr txBox="1"/>
          <p:nvPr/>
        </p:nvSpPr>
        <p:spPr>
          <a:xfrm>
            <a:off x="9377172" y="269748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Create Deposit Tickets</a:t>
            </a:r>
            <a:endParaRPr dirty="0" sz="1700" lang="en-US"/>
          </a:p>
        </p:txBody>
      </p:sp>
      <p:sp>
        <p:nvSpPr>
          <p:cNvPr id="1048800" name="Menu path box"/>
          <p:cNvSpPr/>
          <p:nvPr/>
        </p:nvSpPr>
        <p:spPr>
          <a:xfrm>
            <a:off x="9377172" y="356616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801" name="Shape 42"/>
          <p:cNvSpPr/>
          <p:nvPr/>
        </p:nvSpPr>
        <p:spPr>
          <a:xfrm>
            <a:off x="9486900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802" name="Shape 43"/>
          <p:cNvSpPr/>
          <p:nvPr/>
        </p:nvSpPr>
        <p:spPr>
          <a:xfrm>
            <a:off x="9633204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803" name="Shape 44"/>
          <p:cNvSpPr/>
          <p:nvPr/>
        </p:nvSpPr>
        <p:spPr>
          <a:xfrm>
            <a:off x="9779508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804" name="Text 45"/>
          <p:cNvSpPr txBox="1"/>
          <p:nvPr/>
        </p:nvSpPr>
        <p:spPr>
          <a:xfrm>
            <a:off x="9486900" y="3749040"/>
            <a:ext cx="188366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Select for Deposit</a:t>
            </a:r>
            <a:endParaRPr dirty="0" sz="1050" lang="en-US"/>
          </a:p>
        </p:txBody>
      </p:sp>
      <p:sp>
        <p:nvSpPr>
          <p:cNvPr id="1048805" name="Text 46"/>
          <p:cNvSpPr txBox="1"/>
          <p:nvPr/>
        </p:nvSpPr>
        <p:spPr>
          <a:xfrm>
            <a:off x="9377172" y="4434840"/>
            <a:ext cx="210312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Group the money received and deposit it into the bank account.</a:t>
            </a:r>
            <a:endParaRPr dirty="0" sz="125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7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7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7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20971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2097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7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7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7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7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7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7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7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7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7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7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7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7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7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7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7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7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7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209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209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7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7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7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7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7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7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7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10" presetSubtype="0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1"/>
                                        <p:tgtEl>
                                          <p:spTgt spid="10487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2"/>
                                        <p:tgtEl>
                                          <p:spTgt spid="1048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3" nodeType="withEffect" presetClass="entr" presetID="10" presetSubtype="0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5"/>
                                        <p:tgtEl>
                                          <p:spTgt spid="10487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6"/>
                                        <p:tgtEl>
                                          <p:spTgt spid="10487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10" presetSubtype="0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9"/>
                                        <p:tgtEl>
                                          <p:spTgt spid="10487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0"/>
                                        <p:tgtEl>
                                          <p:spTgt spid="10487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1" nodeType="withEffect" presetClass="entr" presetID="10" presetSubtype="0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3"/>
                                        <p:tgtEl>
                                          <p:spTgt spid="10487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4"/>
                                        <p:tgtEl>
                                          <p:spTgt spid="10487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5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7"/>
                                        <p:tgtEl>
                                          <p:spTgt spid="10487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8"/>
                                        <p:tgtEl>
                                          <p:spTgt spid="10487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9" nodeType="withEffect" presetClass="entr" presetID="10" presetSubtype="0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dur="1" fill="hold" id="1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1"/>
                                        <p:tgtEl>
                                          <p:spTgt spid="10487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2"/>
                                        <p:tgtEl>
                                          <p:spTgt spid="1048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3" nodeType="withEffect" presetClass="entr" presetID="10" presetSubtype="0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dur="1" fill="hold" id="1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5"/>
                                        <p:tgtEl>
                                          <p:spTgt spid="10487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6"/>
                                        <p:tgtEl>
                                          <p:spTgt spid="10487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9"/>
                                        <p:tgtEl>
                                          <p:spTgt spid="2097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0"/>
                                        <p:tgtEl>
                                          <p:spTgt spid="2097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3"/>
                                        <p:tgtEl>
                                          <p:spTgt spid="10487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4"/>
                                        <p:tgtEl>
                                          <p:spTgt spid="10487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7"/>
                                        <p:tgtEl>
                                          <p:spTgt spid="10487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8"/>
                                        <p:tgtEl>
                                          <p:spTgt spid="1048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1"/>
                                        <p:tgtEl>
                                          <p:spTgt spid="10487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2"/>
                                        <p:tgtEl>
                                          <p:spTgt spid="10487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5"/>
                                        <p:tgtEl>
                                          <p:spTgt spid="10487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6"/>
                                        <p:tgtEl>
                                          <p:spTgt spid="1048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9"/>
                                        <p:tgtEl>
                                          <p:spTgt spid="10487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0"/>
                                        <p:tgtEl>
                                          <p:spTgt spid="1048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43"/>
                                        <p:tgtEl>
                                          <p:spTgt spid="10487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4"/>
                                        <p:tgtEl>
                                          <p:spTgt spid="1048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47"/>
                                        <p:tgtEl>
                                          <p:spTgt spid="10487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8"/>
                                        <p:tgtEl>
                                          <p:spTgt spid="1048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1"/>
                                        <p:tgtEl>
                                          <p:spTgt spid="10487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52"/>
                                        <p:tgtEl>
                                          <p:spTgt spid="10487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5"/>
                                        <p:tgtEl>
                                          <p:spTgt spid="10487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56"/>
                                        <p:tgtEl>
                                          <p:spTgt spid="1048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5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9"/>
                                        <p:tgtEl>
                                          <p:spTgt spid="10487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0"/>
                                        <p:tgtEl>
                                          <p:spTgt spid="10487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6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63"/>
                                        <p:tgtEl>
                                          <p:spTgt spid="10487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4"/>
                                        <p:tgtEl>
                                          <p:spTgt spid="10487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6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67"/>
                                        <p:tgtEl>
                                          <p:spTgt spid="209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8"/>
                                        <p:tgtEl>
                                          <p:spTgt spid="209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6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71"/>
                                        <p:tgtEl>
                                          <p:spTgt spid="10487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72"/>
                                        <p:tgtEl>
                                          <p:spTgt spid="10487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75"/>
                                        <p:tgtEl>
                                          <p:spTgt spid="10488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76"/>
                                        <p:tgtEl>
                                          <p:spTgt spid="10488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79"/>
                                        <p:tgtEl>
                                          <p:spTgt spid="10488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80"/>
                                        <p:tgtEl>
                                          <p:spTgt spid="10488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8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83"/>
                                        <p:tgtEl>
                                          <p:spTgt spid="10488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84"/>
                                        <p:tgtEl>
                                          <p:spTgt spid="1048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8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87"/>
                                        <p:tgtEl>
                                          <p:spTgt spid="10488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88"/>
                                        <p:tgtEl>
                                          <p:spTgt spid="1048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8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1"/>
                                        <p:tgtEl>
                                          <p:spTgt spid="10488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92"/>
                                        <p:tgtEl>
                                          <p:spTgt spid="10488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9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5"/>
                                        <p:tgtEl>
                                          <p:spTgt spid="10488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96"/>
                                        <p:tgtEl>
                                          <p:spTgt spid="10488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9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10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TASK 1 IN ACTION</a:t>
            </a:r>
            <a:endParaRPr dirty="0" sz="1200" lang="en-US"/>
          </a:p>
        </p:txBody>
      </p:sp>
      <p:sp>
        <p:nvSpPr>
          <p:cNvPr id="1048811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Inside the software: Sales Invoices</a:t>
            </a:r>
            <a:endParaRPr dirty="0" sz="3200" lang="en-US"/>
          </a:p>
        </p:txBody>
      </p:sp>
      <p:sp>
        <p:nvSpPr>
          <p:cNvPr id="1048812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6</a:t>
            </a:r>
            <a:endParaRPr dirty="0" sz="1100" lang="en-US"/>
          </a:p>
        </p:txBody>
      </p:sp>
      <p:sp>
        <p:nvSpPr>
          <p:cNvPr id="1048813" name="Screen frame"/>
          <p:cNvSpPr/>
          <p:nvPr/>
        </p:nvSpPr>
        <p:spPr>
          <a:xfrm>
            <a:off x="566928" y="1527048"/>
            <a:ext cx="7095744" cy="4553712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77" name="Screen image" descr="Sales/Invoicing window in Peachtree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600200"/>
            <a:ext cx="6949440" cy="4344567"/>
          </a:xfrm>
          <a:prstGeom prst="rect"/>
        </p:spPr>
      </p:pic>
      <p:sp>
        <p:nvSpPr>
          <p:cNvPr id="1048814" name="Text 5"/>
          <p:cNvSpPr txBox="1"/>
          <p:nvPr/>
        </p:nvSpPr>
        <p:spPr>
          <a:xfrm>
            <a:off x="640080" y="5452206"/>
            <a:ext cx="69494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i="1" lang="en-US">
                <a:solidFill>
                  <a:srgbClr val="475569"/>
                </a:solidFill>
              </a:rPr>
              <a:t>Screenshot from the program</a:t>
            </a:r>
            <a:endParaRPr dirty="0" sz="1050" lang="en-US"/>
          </a:p>
        </p:txBody>
      </p:sp>
      <p:sp>
        <p:nvSpPr>
          <p:cNvPr id="1048815" name="Callout 1"/>
          <p:cNvSpPr/>
          <p:nvPr/>
        </p:nvSpPr>
        <p:spPr>
          <a:xfrm>
            <a:off x="800100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16" name="Shape 7"/>
          <p:cNvSpPr/>
          <p:nvPr/>
        </p:nvSpPr>
        <p:spPr>
          <a:xfrm>
            <a:off x="8202168" y="1828800"/>
            <a:ext cx="457200" cy="45720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17" name="Text 8"/>
          <p:cNvSpPr txBox="1"/>
          <p:nvPr/>
        </p:nvSpPr>
        <p:spPr>
          <a:xfrm>
            <a:off x="8202168" y="18288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1</a:t>
            </a:r>
            <a:endParaRPr dirty="0" sz="1500" lang="en-US"/>
          </a:p>
        </p:txBody>
      </p:sp>
      <p:sp>
        <p:nvSpPr>
          <p:cNvPr id="1048818" name="Text 9"/>
          <p:cNvSpPr txBox="1"/>
          <p:nvPr/>
        </p:nvSpPr>
        <p:spPr>
          <a:xfrm>
            <a:off x="8823960" y="1737360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Customer details</a:t>
            </a:r>
            <a:endParaRPr dirty="0" sz="1500" lang="en-US"/>
          </a:p>
        </p:txBody>
      </p:sp>
      <p:sp>
        <p:nvSpPr>
          <p:cNvPr id="1048819" name="Text 10"/>
          <p:cNvSpPr txBox="1"/>
          <p:nvPr/>
        </p:nvSpPr>
        <p:spPr>
          <a:xfrm>
            <a:off x="8823960" y="2130552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Pick the Customer ID and the program fills in the name and address.</a:t>
            </a:r>
            <a:endParaRPr dirty="0" sz="1200" lang="en-US"/>
          </a:p>
        </p:txBody>
      </p:sp>
      <p:sp>
        <p:nvSpPr>
          <p:cNvPr id="1048820" name="Callout 2"/>
          <p:cNvSpPr/>
          <p:nvPr/>
        </p:nvSpPr>
        <p:spPr>
          <a:xfrm>
            <a:off x="8001000" y="3136392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21" name="Shape 12"/>
          <p:cNvSpPr/>
          <p:nvPr/>
        </p:nvSpPr>
        <p:spPr>
          <a:xfrm>
            <a:off x="8202168" y="3364992"/>
            <a:ext cx="457200" cy="45720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22" name="Text 13"/>
          <p:cNvSpPr txBox="1"/>
          <p:nvPr/>
        </p:nvSpPr>
        <p:spPr>
          <a:xfrm>
            <a:off x="8202168" y="3364992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2</a:t>
            </a:r>
            <a:endParaRPr dirty="0" sz="1500" lang="en-US"/>
          </a:p>
        </p:txBody>
      </p:sp>
      <p:sp>
        <p:nvSpPr>
          <p:cNvPr id="1048823" name="Text 14"/>
          <p:cNvSpPr txBox="1"/>
          <p:nvPr/>
        </p:nvSpPr>
        <p:spPr>
          <a:xfrm>
            <a:off x="8823960" y="3273552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Apply to</a:t>
            </a:r>
            <a:endParaRPr dirty="0" sz="1500" lang="en-US"/>
          </a:p>
        </p:txBody>
      </p:sp>
      <p:sp>
        <p:nvSpPr>
          <p:cNvPr id="1048824" name="Text 15"/>
          <p:cNvSpPr txBox="1"/>
          <p:nvPr/>
        </p:nvSpPr>
        <p:spPr>
          <a:xfrm>
            <a:off x="8823960" y="3666744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Choose Apply to Sales Order for an earlier order, or Apply to Sales for a direct sale.</a:t>
            </a:r>
            <a:endParaRPr dirty="0" sz="1200" lang="en-US"/>
          </a:p>
        </p:txBody>
      </p:sp>
      <p:sp>
        <p:nvSpPr>
          <p:cNvPr id="1048825" name="Callout 3"/>
          <p:cNvSpPr/>
          <p:nvPr/>
        </p:nvSpPr>
        <p:spPr>
          <a:xfrm>
            <a:off x="8001000" y="4672584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26" name="Shape 17"/>
          <p:cNvSpPr/>
          <p:nvPr/>
        </p:nvSpPr>
        <p:spPr>
          <a:xfrm>
            <a:off x="8202168" y="4901184"/>
            <a:ext cx="457200" cy="457200"/>
          </a:xfrm>
          <a:prstGeom prst="ellipse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27" name="Text 18"/>
          <p:cNvSpPr txBox="1"/>
          <p:nvPr/>
        </p:nvSpPr>
        <p:spPr>
          <a:xfrm>
            <a:off x="8202168" y="4901184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3</a:t>
            </a:r>
            <a:endParaRPr dirty="0" sz="1500" lang="en-US"/>
          </a:p>
        </p:txBody>
      </p:sp>
      <p:sp>
        <p:nvSpPr>
          <p:cNvPr id="1048828" name="Text 19"/>
          <p:cNvSpPr txBox="1"/>
          <p:nvPr/>
        </p:nvSpPr>
        <p:spPr>
          <a:xfrm>
            <a:off x="8823960" y="4809744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Automatic totals</a:t>
            </a:r>
            <a:endParaRPr dirty="0" sz="1500" lang="en-US"/>
          </a:p>
        </p:txBody>
      </p:sp>
      <p:sp>
        <p:nvSpPr>
          <p:cNvPr id="1048829" name="Text 20"/>
          <p:cNvSpPr txBox="1"/>
          <p:nvPr/>
        </p:nvSpPr>
        <p:spPr>
          <a:xfrm>
            <a:off x="8823960" y="5202936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Subtotal, sales tax and freight roll up into the invoice total.</a:t>
            </a:r>
            <a:endParaRPr dirty="0" sz="12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8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2097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2097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8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8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8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8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8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8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8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8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8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8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8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8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8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8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8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8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8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8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8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8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8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8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8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8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8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8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3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34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CORE TASK 2  |  3 STEPS</a:t>
            </a:r>
            <a:endParaRPr dirty="0" sz="1200" lang="en-US"/>
          </a:p>
        </p:txBody>
      </p:sp>
      <p:sp>
        <p:nvSpPr>
          <p:cNvPr id="1048835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Task 2: Purchasing and payments</a:t>
            </a:r>
            <a:endParaRPr dirty="0" sz="3200" lang="en-US"/>
          </a:p>
        </p:txBody>
      </p:sp>
      <p:sp>
        <p:nvSpPr>
          <p:cNvPr id="1048836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7</a:t>
            </a:r>
            <a:endParaRPr dirty="0" sz="1100" lang="en-US"/>
          </a:p>
        </p:txBody>
      </p:sp>
      <p:sp>
        <p:nvSpPr>
          <p:cNvPr id="1048837" name="Step card 1"/>
          <p:cNvSpPr/>
          <p:nvPr/>
        </p:nvSpPr>
        <p:spPr>
          <a:xfrm>
            <a:off x="457200" y="173736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38" name="Shape 5"/>
          <p:cNvSpPr/>
          <p:nvPr/>
        </p:nvSpPr>
        <p:spPr>
          <a:xfrm>
            <a:off x="685800" y="1965960"/>
            <a:ext cx="548640" cy="54864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39" name="Text 6"/>
          <p:cNvSpPr txBox="1"/>
          <p:nvPr/>
        </p:nvSpPr>
        <p:spPr>
          <a:xfrm>
            <a:off x="685800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1</a:t>
            </a:r>
            <a:endParaRPr dirty="0" sz="1800" lang="en-US"/>
          </a:p>
        </p:txBody>
      </p:sp>
      <p:pic>
        <p:nvPicPr>
          <p:cNvPr id="209717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3063240" y="2011680"/>
            <a:ext cx="457200" cy="457200"/>
          </a:xfrm>
          <a:prstGeom prst="rect"/>
        </p:spPr>
      </p:pic>
      <p:sp>
        <p:nvSpPr>
          <p:cNvPr id="1048840" name="Text 7"/>
          <p:cNvSpPr txBox="1"/>
          <p:nvPr/>
        </p:nvSpPr>
        <p:spPr>
          <a:xfrm>
            <a:off x="685800" y="26974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Purchase Orders</a:t>
            </a:r>
            <a:endParaRPr dirty="0" sz="1700" lang="en-US"/>
          </a:p>
        </p:txBody>
      </p:sp>
      <p:sp>
        <p:nvSpPr>
          <p:cNvPr id="1048841" name="Menu path box"/>
          <p:cNvSpPr/>
          <p:nvPr/>
        </p:nvSpPr>
        <p:spPr>
          <a:xfrm>
            <a:off x="685800" y="3566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842" name="Shape 9"/>
          <p:cNvSpPr/>
          <p:nvPr/>
        </p:nvSpPr>
        <p:spPr>
          <a:xfrm>
            <a:off x="795528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843" name="Shape 10"/>
          <p:cNvSpPr/>
          <p:nvPr/>
        </p:nvSpPr>
        <p:spPr>
          <a:xfrm>
            <a:off x="941832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844" name="Shape 11"/>
          <p:cNvSpPr/>
          <p:nvPr/>
        </p:nvSpPr>
        <p:spPr>
          <a:xfrm>
            <a:off x="1088136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845" name="Text 12"/>
          <p:cNvSpPr txBox="1"/>
          <p:nvPr/>
        </p:nvSpPr>
        <p:spPr>
          <a:xfrm>
            <a:off x="795528" y="3749040"/>
            <a:ext cx="270662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Purchase Orders</a:t>
            </a:r>
            <a:endParaRPr dirty="0" sz="1050" lang="en-US"/>
          </a:p>
        </p:txBody>
      </p:sp>
      <p:sp>
        <p:nvSpPr>
          <p:cNvPr id="1048846" name="Text 13"/>
          <p:cNvSpPr txBox="1"/>
          <p:nvPr/>
        </p:nvSpPr>
        <p:spPr>
          <a:xfrm>
            <a:off x="685800" y="4434840"/>
            <a:ext cx="292608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Identify the vendor and the goods you need to order.</a:t>
            </a:r>
            <a:endParaRPr dirty="0" sz="1250" lang="en-US"/>
          </a:p>
        </p:txBody>
      </p:sp>
      <p:sp>
        <p:nvSpPr>
          <p:cNvPr id="1048847" name="Arrow 1"/>
          <p:cNvSpPr/>
          <p:nvPr/>
        </p:nvSpPr>
        <p:spPr>
          <a:xfrm>
            <a:off x="3986784" y="3749040"/>
            <a:ext cx="256032" cy="411480"/>
          </a:xfrm>
          <a:prstGeom prst="chevron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48" name="Step card 2"/>
          <p:cNvSpPr/>
          <p:nvPr/>
        </p:nvSpPr>
        <p:spPr>
          <a:xfrm>
            <a:off x="4389120" y="173736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49" name="Shape 16"/>
          <p:cNvSpPr/>
          <p:nvPr/>
        </p:nvSpPr>
        <p:spPr>
          <a:xfrm>
            <a:off x="4617720" y="1965960"/>
            <a:ext cx="548640" cy="54864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50" name="Text 17"/>
          <p:cNvSpPr txBox="1"/>
          <p:nvPr/>
        </p:nvSpPr>
        <p:spPr>
          <a:xfrm>
            <a:off x="4617720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2</a:t>
            </a:r>
            <a:endParaRPr dirty="0" sz="1800" lang="en-US"/>
          </a:p>
        </p:txBody>
      </p:sp>
      <p:pic>
        <p:nvPicPr>
          <p:cNvPr id="209717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995160" y="2011680"/>
            <a:ext cx="457200" cy="457200"/>
          </a:xfrm>
          <a:prstGeom prst="rect"/>
        </p:spPr>
      </p:pic>
      <p:sp>
        <p:nvSpPr>
          <p:cNvPr id="1048851" name="Text 18"/>
          <p:cNvSpPr txBox="1"/>
          <p:nvPr/>
        </p:nvSpPr>
        <p:spPr>
          <a:xfrm>
            <a:off x="4617720" y="26974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Receive Inventory / Enter Bills</a:t>
            </a:r>
            <a:endParaRPr dirty="0" sz="1700" lang="en-US"/>
          </a:p>
        </p:txBody>
      </p:sp>
      <p:sp>
        <p:nvSpPr>
          <p:cNvPr id="1048852" name="Menu path box"/>
          <p:cNvSpPr/>
          <p:nvPr/>
        </p:nvSpPr>
        <p:spPr>
          <a:xfrm>
            <a:off x="4617720" y="3566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853" name="Shape 20"/>
          <p:cNvSpPr/>
          <p:nvPr/>
        </p:nvSpPr>
        <p:spPr>
          <a:xfrm>
            <a:off x="4727448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854" name="Shape 21"/>
          <p:cNvSpPr/>
          <p:nvPr/>
        </p:nvSpPr>
        <p:spPr>
          <a:xfrm>
            <a:off x="4873752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855" name="Shape 22"/>
          <p:cNvSpPr/>
          <p:nvPr/>
        </p:nvSpPr>
        <p:spPr>
          <a:xfrm>
            <a:off x="5020056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856" name="Text 23"/>
          <p:cNvSpPr txBox="1"/>
          <p:nvPr/>
        </p:nvSpPr>
        <p:spPr>
          <a:xfrm>
            <a:off x="4727448" y="3749040"/>
            <a:ext cx="270662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Purchases / Receive Inventory</a:t>
            </a:r>
            <a:endParaRPr dirty="0" sz="1050" lang="en-US"/>
          </a:p>
        </p:txBody>
      </p:sp>
      <p:sp>
        <p:nvSpPr>
          <p:cNvPr id="1048857" name="Text 24"/>
          <p:cNvSpPr txBox="1"/>
          <p:nvPr/>
        </p:nvSpPr>
        <p:spPr>
          <a:xfrm>
            <a:off x="4617720" y="4434840"/>
            <a:ext cx="292608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Record the goods received together with the vendor invoice that arrives with them.</a:t>
            </a:r>
            <a:endParaRPr dirty="0" sz="1250" lang="en-US"/>
          </a:p>
        </p:txBody>
      </p:sp>
      <p:sp>
        <p:nvSpPr>
          <p:cNvPr id="1048858" name="Arrow 2"/>
          <p:cNvSpPr/>
          <p:nvPr/>
        </p:nvSpPr>
        <p:spPr>
          <a:xfrm>
            <a:off x="7918704" y="3749040"/>
            <a:ext cx="256032" cy="411480"/>
          </a:xfrm>
          <a:prstGeom prst="chevron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59" name="Step card 3"/>
          <p:cNvSpPr/>
          <p:nvPr/>
        </p:nvSpPr>
        <p:spPr>
          <a:xfrm>
            <a:off x="8321040" y="1737360"/>
            <a:ext cx="3383280" cy="42976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60" name="Shape 27"/>
          <p:cNvSpPr/>
          <p:nvPr/>
        </p:nvSpPr>
        <p:spPr>
          <a:xfrm>
            <a:off x="8549640" y="1965960"/>
            <a:ext cx="548640" cy="54864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61" name="Text 28"/>
          <p:cNvSpPr txBox="1"/>
          <p:nvPr/>
        </p:nvSpPr>
        <p:spPr>
          <a:xfrm>
            <a:off x="8549640" y="1965960"/>
            <a:ext cx="54864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3</a:t>
            </a:r>
            <a:endParaRPr dirty="0" sz="1800" lang="en-US"/>
          </a:p>
        </p:txBody>
      </p:sp>
      <p:pic>
        <p:nvPicPr>
          <p:cNvPr id="2097180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10927080" y="2011680"/>
            <a:ext cx="457200" cy="457200"/>
          </a:xfrm>
          <a:prstGeom prst="rect"/>
        </p:spPr>
      </p:pic>
      <p:sp>
        <p:nvSpPr>
          <p:cNvPr id="1048862" name="Text 29"/>
          <p:cNvSpPr txBox="1"/>
          <p:nvPr/>
        </p:nvSpPr>
        <p:spPr>
          <a:xfrm>
            <a:off x="8549640" y="26974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Pay Vendors</a:t>
            </a:r>
            <a:endParaRPr dirty="0" sz="1700" lang="en-US"/>
          </a:p>
        </p:txBody>
      </p:sp>
      <p:sp>
        <p:nvSpPr>
          <p:cNvPr id="1048863" name="Menu path box"/>
          <p:cNvSpPr/>
          <p:nvPr/>
        </p:nvSpPr>
        <p:spPr>
          <a:xfrm>
            <a:off x="8549640" y="3566160"/>
            <a:ext cx="2926080" cy="73152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864" name="Shape 31"/>
          <p:cNvSpPr/>
          <p:nvPr/>
        </p:nvSpPr>
        <p:spPr>
          <a:xfrm>
            <a:off x="8659368" y="365760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865" name="Shape 32"/>
          <p:cNvSpPr/>
          <p:nvPr/>
        </p:nvSpPr>
        <p:spPr>
          <a:xfrm>
            <a:off x="8805672" y="365760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866" name="Shape 33"/>
          <p:cNvSpPr/>
          <p:nvPr/>
        </p:nvSpPr>
        <p:spPr>
          <a:xfrm>
            <a:off x="8951976" y="365760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867" name="Text 34"/>
          <p:cNvSpPr txBox="1"/>
          <p:nvPr/>
        </p:nvSpPr>
        <p:spPr>
          <a:xfrm>
            <a:off x="8659368" y="3749040"/>
            <a:ext cx="2706624" cy="51206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Payments</a:t>
            </a:r>
            <a:endParaRPr dirty="0" sz="1050" lang="en-US"/>
          </a:p>
        </p:txBody>
      </p:sp>
      <p:sp>
        <p:nvSpPr>
          <p:cNvPr id="1048868" name="Text 35"/>
          <p:cNvSpPr txBox="1"/>
          <p:nvPr/>
        </p:nvSpPr>
        <p:spPr>
          <a:xfrm>
            <a:off x="8549640" y="4434840"/>
            <a:ext cx="2926080" cy="1463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Pay one specific invoice or several at once, applied to invoices or expenses.</a:t>
            </a:r>
            <a:endParaRPr dirty="0" sz="125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8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8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8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2097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2097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8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8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8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8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8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8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8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8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8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8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8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8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8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8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8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8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2097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2097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8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8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8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8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8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8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10" presetSubtype="0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1"/>
                                        <p:tgtEl>
                                          <p:spTgt spid="10488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2"/>
                                        <p:tgtEl>
                                          <p:spTgt spid="10488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3" nodeType="withEffect" presetClass="entr" presetID="10" presetSubtype="0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5"/>
                                        <p:tgtEl>
                                          <p:spTgt spid="10488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6"/>
                                        <p:tgtEl>
                                          <p:spTgt spid="10488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10" presetSubtype="0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9"/>
                                        <p:tgtEl>
                                          <p:spTgt spid="10488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0"/>
                                        <p:tgtEl>
                                          <p:spTgt spid="10488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1" nodeType="withEffect" presetClass="entr" presetID="10" presetSubtype="0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3"/>
                                        <p:tgtEl>
                                          <p:spTgt spid="10488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4"/>
                                        <p:tgtEl>
                                          <p:spTgt spid="10488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5" nodeType="withEffect" presetClass="entr" presetID="10" presetSubtype="0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dur="1" fill="hold" id="10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7"/>
                                        <p:tgtEl>
                                          <p:spTgt spid="10488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8"/>
                                        <p:tgtEl>
                                          <p:spTgt spid="10488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9" nodeType="withEffect" presetClass="entr" presetID="10" presetSubtype="0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dur="1" fill="hold" id="1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1"/>
                                        <p:tgtEl>
                                          <p:spTgt spid="10488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2"/>
                                        <p:tgtEl>
                                          <p:spTgt spid="1048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3" nodeType="withEffect" presetClass="entr" presetID="10" presetSubtype="0">
                                  <p:stCondLst>
                                    <p:cond delay="1890"/>
                                  </p:stCondLst>
                                  <p:childTnLst>
                                    <p:set>
                                      <p:cBhvr>
                                        <p:cTn dur="1" fill="hold" id="1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5"/>
                                        <p:tgtEl>
                                          <p:spTgt spid="10488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16"/>
                                        <p:tgtEl>
                                          <p:spTgt spid="10488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1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9"/>
                                        <p:tgtEl>
                                          <p:spTgt spid="2097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0"/>
                                        <p:tgtEl>
                                          <p:spTgt spid="2097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3"/>
                                        <p:tgtEl>
                                          <p:spTgt spid="10488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4"/>
                                        <p:tgtEl>
                                          <p:spTgt spid="10488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27"/>
                                        <p:tgtEl>
                                          <p:spTgt spid="10488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8"/>
                                        <p:tgtEl>
                                          <p:spTgt spid="10488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29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1"/>
                                        <p:tgtEl>
                                          <p:spTgt spid="10488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2"/>
                                        <p:tgtEl>
                                          <p:spTgt spid="10488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3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5"/>
                                        <p:tgtEl>
                                          <p:spTgt spid="10488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36"/>
                                        <p:tgtEl>
                                          <p:spTgt spid="10488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7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39"/>
                                        <p:tgtEl>
                                          <p:spTgt spid="10488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0"/>
                                        <p:tgtEl>
                                          <p:spTgt spid="1048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1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43"/>
                                        <p:tgtEl>
                                          <p:spTgt spid="10488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4"/>
                                        <p:tgtEl>
                                          <p:spTgt spid="10488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45" nodeType="withEffect" presetClass="entr" presetID="10" presetSubtype="0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dur="1" fill="hold" id="1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47"/>
                                        <p:tgtEl>
                                          <p:spTgt spid="10488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48"/>
                                        <p:tgtEl>
                                          <p:spTgt spid="10488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2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73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TASK 2 IN ACTION</a:t>
            </a:r>
            <a:endParaRPr dirty="0" sz="1200" lang="en-US"/>
          </a:p>
        </p:txBody>
      </p:sp>
      <p:sp>
        <p:nvSpPr>
          <p:cNvPr id="1048874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Inside the software: Receiving a Bill</a:t>
            </a:r>
            <a:endParaRPr dirty="0" sz="3200" lang="en-US"/>
          </a:p>
        </p:txBody>
      </p:sp>
      <p:sp>
        <p:nvSpPr>
          <p:cNvPr id="1048875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8</a:t>
            </a:r>
            <a:endParaRPr dirty="0" sz="1100" lang="en-US"/>
          </a:p>
        </p:txBody>
      </p:sp>
      <p:sp>
        <p:nvSpPr>
          <p:cNvPr id="1048876" name="Screen frame"/>
          <p:cNvSpPr/>
          <p:nvPr/>
        </p:nvSpPr>
        <p:spPr>
          <a:xfrm>
            <a:off x="566928" y="1527048"/>
            <a:ext cx="7095744" cy="4553712"/>
          </a:xfrm>
          <a:prstGeom prst="roundRect">
            <a:avLst>
              <a:gd name="adj" fmla="val 200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81" name="Screen image" descr="Purchases/Receive Inventory window in Peachtree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600200"/>
            <a:ext cx="6949440" cy="4430507"/>
          </a:xfrm>
          <a:prstGeom prst="rect"/>
        </p:spPr>
      </p:pic>
      <p:sp>
        <p:nvSpPr>
          <p:cNvPr id="1048877" name="Text 5"/>
          <p:cNvSpPr txBox="1"/>
          <p:nvPr/>
        </p:nvSpPr>
        <p:spPr>
          <a:xfrm>
            <a:off x="640080" y="5619260"/>
            <a:ext cx="694944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i="1" lang="en-US">
                <a:solidFill>
                  <a:srgbClr val="475569"/>
                </a:solidFill>
              </a:rPr>
              <a:t>Screenshot from the program</a:t>
            </a:r>
            <a:endParaRPr dirty="0" sz="1050" lang="en-US"/>
          </a:p>
        </p:txBody>
      </p:sp>
      <p:sp>
        <p:nvSpPr>
          <p:cNvPr id="1048878" name="Callout 1"/>
          <p:cNvSpPr/>
          <p:nvPr/>
        </p:nvSpPr>
        <p:spPr>
          <a:xfrm>
            <a:off x="8001000" y="160020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79" name="Shape 7"/>
          <p:cNvSpPr/>
          <p:nvPr/>
        </p:nvSpPr>
        <p:spPr>
          <a:xfrm>
            <a:off x="8202168" y="1828800"/>
            <a:ext cx="457200" cy="45720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80" name="Text 8"/>
          <p:cNvSpPr txBox="1"/>
          <p:nvPr/>
        </p:nvSpPr>
        <p:spPr>
          <a:xfrm>
            <a:off x="8202168" y="1828800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1</a:t>
            </a:r>
            <a:endParaRPr dirty="0" sz="1500" lang="en-US"/>
          </a:p>
        </p:txBody>
      </p:sp>
      <p:sp>
        <p:nvSpPr>
          <p:cNvPr id="1048881" name="Text 9"/>
          <p:cNvSpPr txBox="1"/>
          <p:nvPr/>
        </p:nvSpPr>
        <p:spPr>
          <a:xfrm>
            <a:off x="8823960" y="1737360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Vendor details</a:t>
            </a:r>
            <a:endParaRPr dirty="0" sz="1500" lang="en-US"/>
          </a:p>
        </p:txBody>
      </p:sp>
      <p:sp>
        <p:nvSpPr>
          <p:cNvPr id="1048882" name="Text 10"/>
          <p:cNvSpPr txBox="1"/>
          <p:nvPr/>
        </p:nvSpPr>
        <p:spPr>
          <a:xfrm>
            <a:off x="8823960" y="2130552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Select the Vendor ID to load the supplier and shipping information.</a:t>
            </a:r>
            <a:endParaRPr dirty="0" sz="1200" lang="en-US"/>
          </a:p>
        </p:txBody>
      </p:sp>
      <p:sp>
        <p:nvSpPr>
          <p:cNvPr id="1048883" name="Callout 2"/>
          <p:cNvSpPr/>
          <p:nvPr/>
        </p:nvSpPr>
        <p:spPr>
          <a:xfrm>
            <a:off x="8001000" y="3136392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84" name="Shape 12"/>
          <p:cNvSpPr/>
          <p:nvPr/>
        </p:nvSpPr>
        <p:spPr>
          <a:xfrm>
            <a:off x="8202168" y="3364992"/>
            <a:ext cx="457200" cy="45720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85" name="Text 13"/>
          <p:cNvSpPr txBox="1"/>
          <p:nvPr/>
        </p:nvSpPr>
        <p:spPr>
          <a:xfrm>
            <a:off x="8202168" y="3364992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2</a:t>
            </a:r>
            <a:endParaRPr dirty="0" sz="1500" lang="en-US"/>
          </a:p>
        </p:txBody>
      </p:sp>
      <p:sp>
        <p:nvSpPr>
          <p:cNvPr id="1048886" name="Text 14"/>
          <p:cNvSpPr txBox="1"/>
          <p:nvPr/>
        </p:nvSpPr>
        <p:spPr>
          <a:xfrm>
            <a:off x="8823960" y="3273552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Items received</a:t>
            </a:r>
            <a:endParaRPr dirty="0" sz="1500" lang="en-US"/>
          </a:p>
        </p:txBody>
      </p:sp>
      <p:sp>
        <p:nvSpPr>
          <p:cNvPr id="1048887" name="Text 15"/>
          <p:cNvSpPr txBox="1"/>
          <p:nvPr/>
        </p:nvSpPr>
        <p:spPr>
          <a:xfrm>
            <a:off x="8823960" y="3666744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List each item with its quantity and unit cost; amounts are calculated for you.</a:t>
            </a:r>
            <a:endParaRPr dirty="0" sz="1200" lang="en-US"/>
          </a:p>
        </p:txBody>
      </p:sp>
      <p:sp>
        <p:nvSpPr>
          <p:cNvPr id="1048888" name="Callout 3"/>
          <p:cNvSpPr/>
          <p:nvPr/>
        </p:nvSpPr>
        <p:spPr>
          <a:xfrm>
            <a:off x="8001000" y="4672584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889" name="Shape 17"/>
          <p:cNvSpPr/>
          <p:nvPr/>
        </p:nvSpPr>
        <p:spPr>
          <a:xfrm>
            <a:off x="8202168" y="4901184"/>
            <a:ext cx="457200" cy="457200"/>
          </a:xfrm>
          <a:prstGeom prst="ellipse"/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48890" name="Text 18"/>
          <p:cNvSpPr txBox="1"/>
          <p:nvPr/>
        </p:nvSpPr>
        <p:spPr>
          <a:xfrm>
            <a:off x="8202168" y="4901184"/>
            <a:ext cx="457200" cy="45720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FFFFFF"/>
                </a:solidFill>
              </a:rPr>
              <a:t>3</a:t>
            </a:r>
            <a:endParaRPr dirty="0" sz="1500" lang="en-US"/>
          </a:p>
        </p:txBody>
      </p:sp>
      <p:sp>
        <p:nvSpPr>
          <p:cNvPr id="1048891" name="Text 19"/>
          <p:cNvSpPr txBox="1"/>
          <p:nvPr/>
        </p:nvSpPr>
        <p:spPr>
          <a:xfrm>
            <a:off x="8823960" y="4809744"/>
            <a:ext cx="25603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0B1F3A"/>
                </a:solidFill>
              </a:rPr>
              <a:t>Net due</a:t>
            </a:r>
            <a:endParaRPr dirty="0" sz="1500" lang="en-US"/>
          </a:p>
        </p:txBody>
      </p:sp>
      <p:sp>
        <p:nvSpPr>
          <p:cNvPr id="1048892" name="Text 20"/>
          <p:cNvSpPr txBox="1"/>
          <p:nvPr/>
        </p:nvSpPr>
        <p:spPr>
          <a:xfrm>
            <a:off x="8823960" y="5202936"/>
            <a:ext cx="2560320" cy="777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The invoice total less payments gives the amount owed to the vendor.</a:t>
            </a:r>
            <a:endParaRPr dirty="0" sz="12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8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2097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2097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8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8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8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8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8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8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8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8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8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8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8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8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8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8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8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8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8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8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8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8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8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6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897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CORE TASKS 3 &amp; 4</a:t>
            </a:r>
            <a:endParaRPr dirty="0" sz="1200" lang="en-US"/>
          </a:p>
        </p:txBody>
      </p:sp>
      <p:sp>
        <p:nvSpPr>
          <p:cNvPr id="1048898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Tasks 3 and 4: Payroll and inventory</a:t>
            </a:r>
            <a:endParaRPr dirty="0" sz="3200" lang="en-US"/>
          </a:p>
        </p:txBody>
      </p:sp>
      <p:sp>
        <p:nvSpPr>
          <p:cNvPr id="1048899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9</a:t>
            </a:r>
            <a:endParaRPr dirty="0" sz="1100" lang="en-US"/>
          </a:p>
        </p:txBody>
      </p:sp>
      <p:sp>
        <p:nvSpPr>
          <p:cNvPr id="1048900" name="Shape 4"/>
          <p:cNvSpPr/>
          <p:nvPr/>
        </p:nvSpPr>
        <p:spPr>
          <a:xfrm>
            <a:off x="640080" y="1737360"/>
            <a:ext cx="52578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01" name="Shape 5"/>
          <p:cNvSpPr/>
          <p:nvPr/>
        </p:nvSpPr>
        <p:spPr>
          <a:xfrm>
            <a:off x="914400" y="2011680"/>
            <a:ext cx="731520" cy="731520"/>
          </a:xfrm>
          <a:prstGeom prst="ellipse"/>
          <a:solidFill>
            <a:srgbClr val="F59E0B">
              <a:alpha val="15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pic>
        <p:nvPicPr>
          <p:cNvPr id="209718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1097280" y="2194560"/>
            <a:ext cx="365760" cy="365760"/>
          </a:xfrm>
          <a:prstGeom prst="rect"/>
        </p:spPr>
      </p:pic>
      <p:sp>
        <p:nvSpPr>
          <p:cNvPr id="1048902" name="Text 6"/>
          <p:cNvSpPr txBox="1"/>
          <p:nvPr/>
        </p:nvSpPr>
        <p:spPr>
          <a:xfrm>
            <a:off x="1828800" y="2011680"/>
            <a:ext cx="384048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Payroll management</a:t>
            </a:r>
            <a:endParaRPr dirty="0" sz="2200" lang="en-US"/>
          </a:p>
        </p:txBody>
      </p:sp>
      <p:sp>
        <p:nvSpPr>
          <p:cNvPr id="1048903" name="Menu path box"/>
          <p:cNvSpPr/>
          <p:nvPr/>
        </p:nvSpPr>
        <p:spPr>
          <a:xfrm>
            <a:off x="914400" y="2971800"/>
            <a:ext cx="47091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904" name="Shape 8"/>
          <p:cNvSpPr/>
          <p:nvPr/>
        </p:nvSpPr>
        <p:spPr>
          <a:xfrm>
            <a:off x="1024128" y="306324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905" name="Shape 9"/>
          <p:cNvSpPr/>
          <p:nvPr/>
        </p:nvSpPr>
        <p:spPr>
          <a:xfrm>
            <a:off x="1170432" y="306324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906" name="Shape 10"/>
          <p:cNvSpPr/>
          <p:nvPr/>
        </p:nvSpPr>
        <p:spPr>
          <a:xfrm>
            <a:off x="1316736" y="306324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907" name="Text 11"/>
          <p:cNvSpPr txBox="1"/>
          <p:nvPr/>
        </p:nvSpPr>
        <p:spPr>
          <a:xfrm>
            <a:off x="1024128" y="3154680"/>
            <a:ext cx="4489704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› Payroll Entry</a:t>
            </a:r>
            <a:endParaRPr dirty="0" sz="1050" lang="en-US"/>
          </a:p>
        </p:txBody>
      </p:sp>
      <p:sp>
        <p:nvSpPr>
          <p:cNvPr id="1048908" name="Text 12"/>
          <p:cNvSpPr txBox="1"/>
          <p:nvPr/>
        </p:nvSpPr>
        <p:spPr>
          <a:xfrm>
            <a:off x="914400" y="3794760"/>
            <a:ext cx="4709160" cy="21031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Select the Employee ID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Hours worked and base pay appear automatically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Deductions, taxes and withholdings are calculated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Net pay is reached with flexibility</a:t>
            </a:r>
            <a:endParaRPr dirty="0" sz="1500" lang="en-US"/>
          </a:p>
        </p:txBody>
      </p:sp>
      <p:sp>
        <p:nvSpPr>
          <p:cNvPr id="1048909" name="Shape 13"/>
          <p:cNvSpPr/>
          <p:nvPr/>
        </p:nvSpPr>
        <p:spPr>
          <a:xfrm>
            <a:off x="6263640" y="1737360"/>
            <a:ext cx="525780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910" name="Shape 14"/>
          <p:cNvSpPr/>
          <p:nvPr/>
        </p:nvSpPr>
        <p:spPr>
          <a:xfrm>
            <a:off x="6537960" y="2011680"/>
            <a:ext cx="731520" cy="731520"/>
          </a:xfrm>
          <a:prstGeom prst="ellipse"/>
          <a:solidFill>
            <a:srgbClr val="7C3AED">
              <a:alpha val="15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pic>
        <p:nvPicPr>
          <p:cNvPr id="209718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20840" y="2194560"/>
            <a:ext cx="365760" cy="365760"/>
          </a:xfrm>
          <a:prstGeom prst="rect"/>
        </p:spPr>
      </p:pic>
      <p:sp>
        <p:nvSpPr>
          <p:cNvPr id="1048911" name="Text 15"/>
          <p:cNvSpPr txBox="1"/>
          <p:nvPr/>
        </p:nvSpPr>
        <p:spPr>
          <a:xfrm>
            <a:off x="7452360" y="2011680"/>
            <a:ext cx="3840480" cy="7315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0B1F3A"/>
                </a:solidFill>
              </a:rPr>
              <a:t>Inventory tracking</a:t>
            </a:r>
            <a:endParaRPr dirty="0" sz="2200" lang="en-US"/>
          </a:p>
        </p:txBody>
      </p:sp>
      <p:sp>
        <p:nvSpPr>
          <p:cNvPr id="1048912" name="Menu path box"/>
          <p:cNvSpPr/>
          <p:nvPr/>
        </p:nvSpPr>
        <p:spPr>
          <a:xfrm>
            <a:off x="6537960" y="2971800"/>
            <a:ext cx="4709160" cy="640080"/>
          </a:xfrm>
          <a:prstGeom prst="roundRect">
            <a:avLst>
              <a:gd name="adj" fmla="val 114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48913" name="Shape 17"/>
          <p:cNvSpPr/>
          <p:nvPr/>
        </p:nvSpPr>
        <p:spPr>
          <a:xfrm>
            <a:off x="6647688" y="3063240"/>
            <a:ext cx="91440" cy="91440"/>
          </a:xfrm>
          <a:prstGeom prst="ellipse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048914" name="Shape 18"/>
          <p:cNvSpPr/>
          <p:nvPr/>
        </p:nvSpPr>
        <p:spPr>
          <a:xfrm>
            <a:off x="6793992" y="3063240"/>
            <a:ext cx="91440" cy="91440"/>
          </a:xfrm>
          <a:prstGeom prst="ellipse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915" name="Shape 19"/>
          <p:cNvSpPr/>
          <p:nvPr/>
        </p:nvSpPr>
        <p:spPr>
          <a:xfrm>
            <a:off x="6940296" y="3063240"/>
            <a:ext cx="91440" cy="91440"/>
          </a:xfrm>
          <a:prstGeom prst="ellipse"/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48916" name="Text 20"/>
          <p:cNvSpPr txBox="1"/>
          <p:nvPr/>
        </p:nvSpPr>
        <p:spPr>
          <a:xfrm>
            <a:off x="6647688" y="3154680"/>
            <a:ext cx="4489704" cy="420624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dirty="0" sz="1050" lang="en-US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Maintain › Inventory Items</a:t>
            </a:r>
            <a:endParaRPr dirty="0" sz="1050" lang="en-US"/>
          </a:p>
        </p:txBody>
      </p:sp>
      <p:sp>
        <p:nvSpPr>
          <p:cNvPr id="1048917" name="Text 21"/>
          <p:cNvSpPr txBox="1"/>
          <p:nvPr/>
        </p:nvSpPr>
        <p:spPr>
          <a:xfrm>
            <a:off x="6537960" y="3794760"/>
            <a:ext cx="4709160" cy="2103120"/>
          </a:xfrm>
          <a:prstGeom prst="rect"/>
          <a:noFill/>
        </p:spPr>
        <p:txBody>
          <a:bodyPr anchor="t" bIns="0" lIns="0" rIns="0" rtlCol="0" tIns="0" wrap="square"/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Monitor quantities on hand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Set the reorder point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Choose a costing method, for example FIFO</a:t>
            </a:r>
            <a:endParaRPr dirty="0" sz="1500" lang="en-US"/>
          </a:p>
          <a:p>
            <a:pPr indent="-342900" marL="342900">
              <a:spcAft>
                <a:spcPts val="800"/>
              </a:spcAft>
              <a:buSzPct val="100000"/>
              <a:buChar char="•"/>
            </a:pPr>
            <a:r>
              <a:rPr dirty="0" sz="1500" lang="en-US">
                <a:solidFill>
                  <a:srgbClr val="475569"/>
                </a:solidFill>
              </a:rPr>
              <a:t>Avoid stock-outs and overstock</a:t>
            </a:r>
            <a:endParaRPr dirty="0" sz="15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9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9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9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9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2097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2097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9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9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9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9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9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9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9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9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9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9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9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9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9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9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2097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209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9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9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650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TASKS 3 &amp; 4 IN ACTION</a:t>
            </a:r>
            <a:endParaRPr dirty="0" sz="1200" lang="en-US"/>
          </a:p>
        </p:txBody>
      </p:sp>
      <p:sp>
        <p:nvSpPr>
          <p:cNvPr id="1048651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Inside the software: Payroll and Inventory</a:t>
            </a:r>
            <a:endParaRPr dirty="0" sz="3200" lang="en-US"/>
          </a:p>
        </p:txBody>
      </p:sp>
      <p:sp>
        <p:nvSpPr>
          <p:cNvPr id="1048652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10</a:t>
            </a:r>
            <a:endParaRPr dirty="0" sz="1100" lang="en-US"/>
          </a:p>
        </p:txBody>
      </p:sp>
      <p:sp>
        <p:nvSpPr>
          <p:cNvPr id="1048653" name="Screen frame"/>
          <p:cNvSpPr/>
          <p:nvPr/>
        </p:nvSpPr>
        <p:spPr>
          <a:xfrm>
            <a:off x="566928" y="1618488"/>
            <a:ext cx="5404104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57" name="Screen image" descr="Payroll Entry window in Peachtree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691640"/>
            <a:ext cx="5189314" cy="3328416"/>
          </a:xfrm>
          <a:prstGeom prst="rect"/>
        </p:spPr>
      </p:pic>
      <p:sp>
        <p:nvSpPr>
          <p:cNvPr id="1048654" name="Shape 5"/>
          <p:cNvSpPr/>
          <p:nvPr/>
        </p:nvSpPr>
        <p:spPr>
          <a:xfrm>
            <a:off x="640080" y="5303520"/>
            <a:ext cx="73152" cy="777240"/>
          </a:xfrm>
          <a:prstGeom prst="rect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48655" name="Text 6"/>
          <p:cNvSpPr txBox="1"/>
          <p:nvPr/>
        </p:nvSpPr>
        <p:spPr>
          <a:xfrm>
            <a:off x="868680" y="5285232"/>
            <a:ext cx="493776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Payroll Entry</a:t>
            </a:r>
            <a:endParaRPr dirty="0" sz="1700" lang="en-US"/>
          </a:p>
        </p:txBody>
      </p:sp>
      <p:sp>
        <p:nvSpPr>
          <p:cNvPr id="1048656" name="Text 7"/>
          <p:cNvSpPr txBox="1"/>
          <p:nvPr/>
        </p:nvSpPr>
        <p:spPr>
          <a:xfrm>
            <a:off x="868680" y="5669280"/>
            <a:ext cx="4937760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Hours, pay, deductions and net pay appear once you pick the employee.</a:t>
            </a:r>
            <a:endParaRPr dirty="0" sz="1250" lang="en-US"/>
          </a:p>
        </p:txBody>
      </p:sp>
      <p:sp>
        <p:nvSpPr>
          <p:cNvPr id="1048657" name="Screen frame"/>
          <p:cNvSpPr/>
          <p:nvPr/>
        </p:nvSpPr>
        <p:spPr>
          <a:xfrm>
            <a:off x="6190488" y="1618488"/>
            <a:ext cx="5404104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58" name="Screen image" descr="Maintain Inventory Items window in Peachtre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63640" y="1691640"/>
            <a:ext cx="5334600" cy="3328416"/>
          </a:xfrm>
          <a:prstGeom prst="rect"/>
        </p:spPr>
      </p:pic>
      <p:sp>
        <p:nvSpPr>
          <p:cNvPr id="1048658" name="Shape 9"/>
          <p:cNvSpPr/>
          <p:nvPr/>
        </p:nvSpPr>
        <p:spPr>
          <a:xfrm>
            <a:off x="6263640" y="5303520"/>
            <a:ext cx="73152" cy="777240"/>
          </a:xfrm>
          <a:prstGeom prst="rect"/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48659" name="Text 10"/>
          <p:cNvSpPr txBox="1"/>
          <p:nvPr/>
        </p:nvSpPr>
        <p:spPr>
          <a:xfrm>
            <a:off x="6492240" y="5285232"/>
            <a:ext cx="493776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Inventory Items</a:t>
            </a:r>
            <a:endParaRPr dirty="0" sz="1700" lang="en-US"/>
          </a:p>
        </p:txBody>
      </p:sp>
      <p:sp>
        <p:nvSpPr>
          <p:cNvPr id="1048660" name="Text 11"/>
          <p:cNvSpPr txBox="1"/>
          <p:nvPr/>
        </p:nvSpPr>
        <p:spPr>
          <a:xfrm>
            <a:off x="6492240" y="5669280"/>
            <a:ext cx="4937760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475569"/>
                </a:solidFill>
              </a:rPr>
              <a:t>Quantity on hand, reorder point and costing method (FIFO) in one place.</a:t>
            </a:r>
            <a:endParaRPr dirty="0" sz="125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6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20971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2097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6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6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6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6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6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6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6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2097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2097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6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6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6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6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630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CORE TASK 5</a:t>
            </a:r>
            <a:endParaRPr dirty="0" sz="1200" lang="en-US"/>
          </a:p>
        </p:txBody>
      </p:sp>
      <p:sp>
        <p:nvSpPr>
          <p:cNvPr id="1048631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Task 5: Reports for decision making</a:t>
            </a:r>
            <a:endParaRPr dirty="0" sz="3200" lang="en-US"/>
          </a:p>
        </p:txBody>
      </p:sp>
      <p:sp>
        <p:nvSpPr>
          <p:cNvPr id="1048632" name="!!num"/>
          <p:cNvSpPr txBox="1"/>
          <p:nvPr/>
        </p:nvSpPr>
        <p:spPr>
          <a:xfrm>
            <a:off x="11155680" y="6355080"/>
            <a:ext cx="548640" cy="274320"/>
          </a:xfrm>
          <a:prstGeom prst="rect"/>
          <a:noFill/>
        </p:spPr>
        <p:txBody>
          <a:bodyPr anchor="ctr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475569"/>
                </a:solidFill>
              </a:rPr>
              <a:t>11</a:t>
            </a:r>
            <a:endParaRPr dirty="0" sz="1100" lang="en-US"/>
          </a:p>
        </p:txBody>
      </p:sp>
      <p:sp>
        <p:nvSpPr>
          <p:cNvPr id="1048633" name="Screen frame"/>
          <p:cNvSpPr/>
          <p:nvPr/>
        </p:nvSpPr>
        <p:spPr>
          <a:xfrm>
            <a:off x="566928" y="1664208"/>
            <a:ext cx="5449824" cy="3511296"/>
          </a:xfrm>
          <a:prstGeom prst="roundRect">
            <a:avLst>
              <a:gd name="adj" fmla="val 26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pic>
        <p:nvPicPr>
          <p:cNvPr id="2097153" name="Screen image" descr="Accounts Receivable reports list in Peachtree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640080" y="1737360"/>
            <a:ext cx="5347754" cy="3355848"/>
          </a:xfrm>
          <a:prstGeom prst="rect"/>
        </p:spPr>
      </p:pic>
      <p:sp>
        <p:nvSpPr>
          <p:cNvPr id="1048634" name="Text 5"/>
          <p:cNvSpPr txBox="1"/>
          <p:nvPr/>
        </p:nvSpPr>
        <p:spPr>
          <a:xfrm>
            <a:off x="640080" y="5349240"/>
            <a:ext cx="5303520" cy="3657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900" lang="en-US">
                <a:solidFill>
                  <a:srgbClr val="0B1F3A"/>
                </a:solidFill>
              </a:rPr>
              <a:t>Aged Receivables report</a:t>
            </a:r>
            <a:endParaRPr dirty="0" sz="1900" lang="en-US"/>
          </a:p>
        </p:txBody>
      </p:sp>
      <p:sp>
        <p:nvSpPr>
          <p:cNvPr id="1048635" name="Text 6"/>
          <p:cNvSpPr txBox="1"/>
          <p:nvPr/>
        </p:nvSpPr>
        <p:spPr>
          <a:xfrm>
            <a:off x="640080" y="5733288"/>
            <a:ext cx="5303520" cy="5943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00" lang="en-US">
                <a:solidFill>
                  <a:srgbClr val="475569"/>
                </a:solidFill>
              </a:rPr>
              <a:t>Reports &amp; Forms › Accounts Receivable › Aged Receivables. Shows overdue invoices, days late and customers who have not paid.</a:t>
            </a:r>
            <a:endParaRPr dirty="0" sz="1200" lang="en-US"/>
          </a:p>
        </p:txBody>
      </p:sp>
      <p:sp>
        <p:nvSpPr>
          <p:cNvPr id="1048636" name="Text 7"/>
          <p:cNvSpPr txBox="1"/>
          <p:nvPr/>
        </p:nvSpPr>
        <p:spPr>
          <a:xfrm>
            <a:off x="6309360" y="1783080"/>
            <a:ext cx="5212080" cy="45720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Decisions it supports</a:t>
            </a:r>
            <a:endParaRPr dirty="0" sz="2000" lang="en-US"/>
          </a:p>
        </p:txBody>
      </p:sp>
      <p:sp>
        <p:nvSpPr>
          <p:cNvPr id="1048637" name="Shape 8"/>
          <p:cNvSpPr/>
          <p:nvPr/>
        </p:nvSpPr>
        <p:spPr>
          <a:xfrm>
            <a:off x="6309360" y="242316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38" name="Shape 9"/>
          <p:cNvSpPr/>
          <p:nvPr/>
        </p:nvSpPr>
        <p:spPr>
          <a:xfrm>
            <a:off x="6309360" y="2514600"/>
            <a:ext cx="73152" cy="86868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pic>
        <p:nvPicPr>
          <p:cNvPr id="209715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29400" y="2697480"/>
            <a:ext cx="502920" cy="502920"/>
          </a:xfrm>
          <a:prstGeom prst="rect"/>
        </p:spPr>
      </p:pic>
      <p:sp>
        <p:nvSpPr>
          <p:cNvPr id="1048639" name="Text 10"/>
          <p:cNvSpPr txBox="1"/>
          <p:nvPr/>
        </p:nvSpPr>
        <p:spPr>
          <a:xfrm>
            <a:off x="7406640" y="2423160"/>
            <a:ext cx="393192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Collect outstanding debts</a:t>
            </a:r>
            <a:endParaRPr dirty="0" sz="1700" lang="en-US"/>
          </a:p>
        </p:txBody>
      </p:sp>
      <p:sp>
        <p:nvSpPr>
          <p:cNvPr id="1048640" name="Shape 11"/>
          <p:cNvSpPr/>
          <p:nvPr/>
        </p:nvSpPr>
        <p:spPr>
          <a:xfrm>
            <a:off x="6309360" y="370332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41" name="Shape 12"/>
          <p:cNvSpPr/>
          <p:nvPr/>
        </p:nvSpPr>
        <p:spPr>
          <a:xfrm>
            <a:off x="6309360" y="3794760"/>
            <a:ext cx="73152" cy="868680"/>
          </a:xfrm>
          <a:prstGeom prst="rect"/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09715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629400" y="3977640"/>
            <a:ext cx="502920" cy="502920"/>
          </a:xfrm>
          <a:prstGeom prst="rect"/>
        </p:spPr>
      </p:pic>
      <p:sp>
        <p:nvSpPr>
          <p:cNvPr id="1048642" name="Text 13"/>
          <p:cNvSpPr txBox="1"/>
          <p:nvPr/>
        </p:nvSpPr>
        <p:spPr>
          <a:xfrm>
            <a:off x="7406640" y="3703320"/>
            <a:ext cx="393192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Reduce a customer's credit limit</a:t>
            </a:r>
            <a:endParaRPr dirty="0" sz="1700" lang="en-US"/>
          </a:p>
        </p:txBody>
      </p:sp>
      <p:sp>
        <p:nvSpPr>
          <p:cNvPr id="1048643" name="Shape 14"/>
          <p:cNvSpPr/>
          <p:nvPr/>
        </p:nvSpPr>
        <p:spPr>
          <a:xfrm>
            <a:off x="6309360" y="4983480"/>
            <a:ext cx="521208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algn="bl" blurRad="127000" dir="5400000" dist="38100" kx="0" ky="0" rotWithShape="0" sx="100000" sy="100000">
              <a:srgbClr val="000000">
                <a:alpha val="12000"/>
              </a:srgbClr>
            </a:outerShdw>
          </a:effectLst>
        </p:spPr>
      </p:sp>
      <p:sp>
        <p:nvSpPr>
          <p:cNvPr id="1048644" name="Shape 15"/>
          <p:cNvSpPr/>
          <p:nvPr/>
        </p:nvSpPr>
        <p:spPr>
          <a:xfrm>
            <a:off x="6309360" y="5074920"/>
            <a:ext cx="73152" cy="868680"/>
          </a:xfrm>
          <a:prstGeom prst="rect"/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pic>
        <p:nvPicPr>
          <p:cNvPr id="209715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6629400" y="5257800"/>
            <a:ext cx="502920" cy="502920"/>
          </a:xfrm>
          <a:prstGeom prst="rect"/>
        </p:spPr>
      </p:pic>
      <p:sp>
        <p:nvSpPr>
          <p:cNvPr id="1048645" name="Text 16"/>
          <p:cNvSpPr txBox="1"/>
          <p:nvPr/>
        </p:nvSpPr>
        <p:spPr>
          <a:xfrm>
            <a:off x="7406640" y="4983480"/>
            <a:ext cx="3931920" cy="10515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0B1F3A"/>
                </a:solidFill>
              </a:rPr>
              <a:t>Stop dealing with late payers</a:t>
            </a:r>
            <a:endParaRPr dirty="0" sz="17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6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6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2097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2097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6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6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6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6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6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6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6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2097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2097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6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6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6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6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6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2097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2097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6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6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6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6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2097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2097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6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hape 0"/>
          <p:cNvSpPr/>
          <p:nvPr/>
        </p:nvSpPr>
        <p:spPr>
          <a:xfrm>
            <a:off x="8961120" y="-1463040"/>
            <a:ext cx="4754880" cy="4754880"/>
          </a:xfrm>
          <a:prstGeom prst="ellipse"/>
          <a:solidFill>
            <a:srgbClr val="14B8A6">
              <a:alpha val="18000"/>
            </a:srgbClr>
          </a:solidFill>
          <a:ln w="12700">
            <a:solidFill>
              <a:srgbClr val="14B8A6">
                <a:alpha val="18000"/>
              </a:srgbClr>
            </a:solidFill>
            <a:prstDash val="solid"/>
          </a:ln>
        </p:spPr>
      </p:sp>
      <p:sp>
        <p:nvSpPr>
          <p:cNvPr id="1048607" name="Text 1"/>
          <p:cNvSpPr txBox="1"/>
          <p:nvPr/>
        </p:nvSpPr>
        <p:spPr>
          <a:xfrm>
            <a:off x="731520" y="640080"/>
            <a:ext cx="7315200" cy="3200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300" kern="0" lang="en-US" spc="400">
                <a:solidFill>
                  <a:srgbClr val="14B8A6"/>
                </a:solidFill>
              </a:rPr>
              <a:t>KEY TAKEAWAYS</a:t>
            </a:r>
            <a:endParaRPr dirty="0" sz="1300" lang="en-US"/>
          </a:p>
        </p:txBody>
      </p:sp>
      <p:sp>
        <p:nvSpPr>
          <p:cNvPr id="1048608" name="Text 2"/>
          <p:cNvSpPr txBox="1"/>
          <p:nvPr/>
        </p:nvSpPr>
        <p:spPr>
          <a:xfrm>
            <a:off x="731520" y="1005840"/>
            <a:ext cx="10058400" cy="82296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600" lang="en-US">
                <a:solidFill>
                  <a:srgbClr val="FFFFFF"/>
                </a:solidFill>
              </a:rPr>
              <a:t>From transaction to decision</a:t>
            </a:r>
            <a:endParaRPr dirty="0" sz="3600" lang="en-US"/>
          </a:p>
        </p:txBody>
      </p:sp>
      <p:sp>
        <p:nvSpPr>
          <p:cNvPr id="1048609" name="Takeaway 1"/>
          <p:cNvSpPr/>
          <p:nvPr/>
        </p:nvSpPr>
        <p:spPr>
          <a:xfrm>
            <a:off x="73152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3304F"/>
          </a:solidFill>
          <a:ln w="12700">
            <a:solidFill>
              <a:srgbClr val="1E4A75"/>
            </a:solidFill>
            <a:prstDash val="solid"/>
          </a:ln>
        </p:spPr>
      </p:sp>
      <p:sp>
        <p:nvSpPr>
          <p:cNvPr id="1048610" name="Text 4"/>
          <p:cNvSpPr txBox="1"/>
          <p:nvPr/>
        </p:nvSpPr>
        <p:spPr>
          <a:xfrm>
            <a:off x="1005840" y="2697480"/>
            <a:ext cx="1371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4B8A6"/>
                </a:solidFill>
              </a:rPr>
              <a:t>01</a:t>
            </a:r>
            <a:endParaRPr dirty="0" sz="3000" lang="en-US"/>
          </a:p>
        </p:txBody>
      </p:sp>
      <p:sp>
        <p:nvSpPr>
          <p:cNvPr id="1048611" name="Text 5"/>
          <p:cNvSpPr txBox="1"/>
          <p:nvPr/>
        </p:nvSpPr>
        <p:spPr>
          <a:xfrm>
            <a:off x="1005840" y="3383280"/>
            <a:ext cx="201168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Accurate &amp; timely</a:t>
            </a:r>
            <a:endParaRPr dirty="0" sz="1800" lang="en-US"/>
          </a:p>
        </p:txBody>
      </p:sp>
      <p:sp>
        <p:nvSpPr>
          <p:cNvPr id="1048612" name="Text 6"/>
          <p:cNvSpPr txBox="1"/>
          <p:nvPr/>
        </p:nvSpPr>
        <p:spPr>
          <a:xfrm>
            <a:off x="1005840" y="3977640"/>
            <a:ext cx="201168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BD5E1"/>
                </a:solidFill>
              </a:rPr>
              <a:t>Reliable information drives sound decisions.</a:t>
            </a:r>
            <a:endParaRPr dirty="0" sz="1300" lang="en-US"/>
          </a:p>
        </p:txBody>
      </p:sp>
      <p:sp>
        <p:nvSpPr>
          <p:cNvPr id="1048613" name="Takeaway 2"/>
          <p:cNvSpPr/>
          <p:nvPr/>
        </p:nvSpPr>
        <p:spPr>
          <a:xfrm>
            <a:off x="347472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3304F"/>
          </a:solidFill>
          <a:ln w="12700">
            <a:solidFill>
              <a:srgbClr val="1E4A75"/>
            </a:solidFill>
            <a:prstDash val="solid"/>
          </a:ln>
        </p:spPr>
      </p:sp>
      <p:sp>
        <p:nvSpPr>
          <p:cNvPr id="1048614" name="Text 8"/>
          <p:cNvSpPr txBox="1"/>
          <p:nvPr/>
        </p:nvSpPr>
        <p:spPr>
          <a:xfrm>
            <a:off x="3749040" y="2697480"/>
            <a:ext cx="1371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2563EB"/>
                </a:solidFill>
              </a:rPr>
              <a:t>02</a:t>
            </a:r>
            <a:endParaRPr dirty="0" sz="3000" lang="en-US"/>
          </a:p>
        </p:txBody>
      </p:sp>
      <p:sp>
        <p:nvSpPr>
          <p:cNvPr id="1048615" name="Text 9"/>
          <p:cNvSpPr txBox="1"/>
          <p:nvPr/>
        </p:nvSpPr>
        <p:spPr>
          <a:xfrm>
            <a:off x="3749040" y="3383280"/>
            <a:ext cx="201168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Five core tasks</a:t>
            </a:r>
            <a:endParaRPr dirty="0" sz="1800" lang="en-US"/>
          </a:p>
        </p:txBody>
      </p:sp>
      <p:sp>
        <p:nvSpPr>
          <p:cNvPr id="1048616" name="Text 10"/>
          <p:cNvSpPr txBox="1"/>
          <p:nvPr/>
        </p:nvSpPr>
        <p:spPr>
          <a:xfrm>
            <a:off x="3749040" y="3977640"/>
            <a:ext cx="201168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BD5E1"/>
                </a:solidFill>
              </a:rPr>
              <a:t>Selling, purchasing, payroll, inventory and reports.</a:t>
            </a:r>
            <a:endParaRPr dirty="0" sz="1300" lang="en-US"/>
          </a:p>
        </p:txBody>
      </p:sp>
      <p:sp>
        <p:nvSpPr>
          <p:cNvPr id="1048617" name="Takeaway 3"/>
          <p:cNvSpPr/>
          <p:nvPr/>
        </p:nvSpPr>
        <p:spPr>
          <a:xfrm>
            <a:off x="621792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3304F"/>
          </a:solidFill>
          <a:ln w="12700">
            <a:solidFill>
              <a:srgbClr val="1E4A75"/>
            </a:solidFill>
            <a:prstDash val="solid"/>
          </a:ln>
        </p:spPr>
      </p:sp>
      <p:sp>
        <p:nvSpPr>
          <p:cNvPr id="1048618" name="Text 12"/>
          <p:cNvSpPr txBox="1"/>
          <p:nvPr/>
        </p:nvSpPr>
        <p:spPr>
          <a:xfrm>
            <a:off x="6492240" y="2697480"/>
            <a:ext cx="1371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59E0B"/>
                </a:solidFill>
              </a:rPr>
              <a:t>03</a:t>
            </a:r>
            <a:endParaRPr dirty="0" sz="3000" lang="en-US"/>
          </a:p>
        </p:txBody>
      </p:sp>
      <p:sp>
        <p:nvSpPr>
          <p:cNvPr id="1048619" name="Text 13"/>
          <p:cNvSpPr txBox="1"/>
          <p:nvPr/>
        </p:nvSpPr>
        <p:spPr>
          <a:xfrm>
            <a:off x="6492240" y="3383280"/>
            <a:ext cx="201168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Controlled &amp; trusted</a:t>
            </a:r>
            <a:endParaRPr dirty="0" sz="1800" lang="en-US"/>
          </a:p>
        </p:txBody>
      </p:sp>
      <p:sp>
        <p:nvSpPr>
          <p:cNvPr id="1048620" name="Text 14"/>
          <p:cNvSpPr txBox="1"/>
          <p:nvPr/>
        </p:nvSpPr>
        <p:spPr>
          <a:xfrm>
            <a:off x="6492240" y="3977640"/>
            <a:ext cx="201168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BD5E1"/>
                </a:solidFill>
              </a:rPr>
              <a:t>Better control, fewer errors, easier financing.</a:t>
            </a:r>
            <a:endParaRPr dirty="0" sz="1300" lang="en-US"/>
          </a:p>
        </p:txBody>
      </p:sp>
      <p:sp>
        <p:nvSpPr>
          <p:cNvPr id="1048621" name="Takeaway 4"/>
          <p:cNvSpPr/>
          <p:nvPr/>
        </p:nvSpPr>
        <p:spPr>
          <a:xfrm>
            <a:off x="8961120" y="2468880"/>
            <a:ext cx="2514600" cy="2651760"/>
          </a:xfrm>
          <a:prstGeom prst="roundRect">
            <a:avLst>
              <a:gd name="adj" fmla="val 4364"/>
            </a:avLst>
          </a:prstGeom>
          <a:solidFill>
            <a:srgbClr val="13304F"/>
          </a:solidFill>
          <a:ln w="12700">
            <a:solidFill>
              <a:srgbClr val="1E4A75"/>
            </a:solidFill>
            <a:prstDash val="solid"/>
          </a:ln>
        </p:spPr>
      </p:sp>
      <p:sp>
        <p:nvSpPr>
          <p:cNvPr id="1048622" name="Text 16"/>
          <p:cNvSpPr txBox="1"/>
          <p:nvPr/>
        </p:nvSpPr>
        <p:spPr>
          <a:xfrm>
            <a:off x="9235440" y="2697480"/>
            <a:ext cx="13716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E11D48"/>
                </a:solidFill>
              </a:rPr>
              <a:t>04</a:t>
            </a:r>
            <a:endParaRPr dirty="0" sz="3000" lang="en-US"/>
          </a:p>
        </p:txBody>
      </p:sp>
      <p:sp>
        <p:nvSpPr>
          <p:cNvPr id="1048623" name="Text 17"/>
          <p:cNvSpPr txBox="1"/>
          <p:nvPr/>
        </p:nvSpPr>
        <p:spPr>
          <a:xfrm>
            <a:off x="9235440" y="3383280"/>
            <a:ext cx="201168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FFFFFF"/>
                </a:solidFill>
              </a:rPr>
              <a:t>Benefits &gt; Costs</a:t>
            </a:r>
            <a:endParaRPr dirty="0" sz="1800" lang="en-US"/>
          </a:p>
        </p:txBody>
      </p:sp>
      <p:sp>
        <p:nvSpPr>
          <p:cNvPr id="1048624" name="Text 18"/>
          <p:cNvSpPr txBox="1"/>
          <p:nvPr/>
        </p:nvSpPr>
        <p:spPr>
          <a:xfrm>
            <a:off x="9235440" y="3977640"/>
            <a:ext cx="2011680" cy="10058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CBD5E1"/>
                </a:solidFill>
              </a:rPr>
              <a:t>Adopt the software only when value exceeds cost.</a:t>
            </a:r>
            <a:endParaRPr dirty="0" sz="1300" lang="en-US"/>
          </a:p>
        </p:txBody>
      </p:sp>
      <p:sp>
        <p:nvSpPr>
          <p:cNvPr id="1048625" name="Text 19"/>
          <p:cNvSpPr txBox="1"/>
          <p:nvPr/>
        </p:nvSpPr>
        <p:spPr>
          <a:xfrm>
            <a:off x="731520" y="5669280"/>
            <a:ext cx="5486400" cy="54864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F59E0B"/>
                </a:solidFill>
              </a:rPr>
              <a:t>Thank you</a:t>
            </a:r>
            <a:endParaRPr dirty="0" sz="2200" lang="en-US"/>
          </a:p>
        </p:txBody>
      </p:sp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6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6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6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6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6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6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6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6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6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6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6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6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6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6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6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6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6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6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6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6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6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6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6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6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6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6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!!bar"/>
          <p:cNvSpPr/>
          <p:nvPr/>
        </p:nvSpPr>
        <p:spPr>
          <a:xfrm>
            <a:off x="0" y="0"/>
            <a:ext cx="201168" cy="6858000"/>
          </a:xfrm>
          <a:prstGeom prst="rect"/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48577" name="!!kicker"/>
          <p:cNvSpPr txBox="1"/>
          <p:nvPr/>
        </p:nvSpPr>
        <p:spPr>
          <a:xfrm>
            <a:off x="640080" y="347472"/>
            <a:ext cx="8229600" cy="274320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1200" kern="0" lang="en-US" spc="300">
                <a:solidFill>
                  <a:srgbClr val="14B8A6"/>
                </a:solidFill>
              </a:rPr>
              <a:t>PRESENTED BY</a:t>
            </a:r>
            <a:endParaRPr dirty="0" sz="1200" lang="en-US"/>
          </a:p>
        </p:txBody>
      </p:sp>
      <p:sp>
        <p:nvSpPr>
          <p:cNvPr id="1048578" name="!!title"/>
          <p:cNvSpPr txBox="1"/>
          <p:nvPr/>
        </p:nvSpPr>
        <p:spPr>
          <a:xfrm>
            <a:off x="640080" y="640080"/>
            <a:ext cx="10881360" cy="7315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200" lang="en-US">
                <a:solidFill>
                  <a:srgbClr val="0B1F3A"/>
                </a:solidFill>
              </a:rPr>
              <a:t>Our Team</a:t>
            </a:r>
            <a:endParaRPr dirty="0" sz="3200" lang="en-US"/>
          </a:p>
        </p:txBody>
      </p:sp>
      <p:sp>
        <p:nvSpPr>
          <p:cNvPr id="1048579" name="Name card 1"/>
          <p:cNvSpPr/>
          <p:nvPr/>
        </p:nvSpPr>
        <p:spPr>
          <a:xfrm>
            <a:off x="3566160" y="1691640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3749040" y="1792224"/>
            <a:ext cx="365760" cy="365760"/>
          </a:xfrm>
          <a:prstGeom prst="ellipse"/>
          <a:solidFill>
            <a:srgbClr val="14B8A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581" name="Text 5"/>
          <p:cNvSpPr txBox="1"/>
          <p:nvPr/>
        </p:nvSpPr>
        <p:spPr>
          <a:xfrm>
            <a:off x="3749040" y="179222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1</a:t>
            </a:r>
            <a:endParaRPr dirty="0" sz="1300" lang="en-US"/>
          </a:p>
        </p:txBody>
      </p:sp>
      <p:sp>
        <p:nvSpPr>
          <p:cNvPr id="1048582" name="Text 6"/>
          <p:cNvSpPr txBox="1"/>
          <p:nvPr/>
        </p:nvSpPr>
        <p:spPr>
          <a:xfrm>
            <a:off x="4297680" y="1691640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Islam Ashraf</a:t>
            </a:r>
            <a:endParaRPr dirty="0" sz="2000" lang="en-US"/>
          </a:p>
        </p:txBody>
      </p:sp>
      <p:sp>
        <p:nvSpPr>
          <p:cNvPr id="1048583" name="Name card 2"/>
          <p:cNvSpPr/>
          <p:nvPr/>
        </p:nvSpPr>
        <p:spPr>
          <a:xfrm>
            <a:off x="3566160" y="2404872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584" name="Shape 8"/>
          <p:cNvSpPr/>
          <p:nvPr/>
        </p:nvSpPr>
        <p:spPr>
          <a:xfrm>
            <a:off x="3749040" y="2505456"/>
            <a:ext cx="365760" cy="365760"/>
          </a:xfrm>
          <a:prstGeom prst="ellipse"/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585" name="Text 9"/>
          <p:cNvSpPr txBox="1"/>
          <p:nvPr/>
        </p:nvSpPr>
        <p:spPr>
          <a:xfrm>
            <a:off x="3749040" y="2505456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2</a:t>
            </a:r>
            <a:endParaRPr dirty="0" sz="1300" lang="en-US"/>
          </a:p>
        </p:txBody>
      </p:sp>
      <p:sp>
        <p:nvSpPr>
          <p:cNvPr id="1048586" name="Text 10"/>
          <p:cNvSpPr txBox="1"/>
          <p:nvPr/>
        </p:nvSpPr>
        <p:spPr>
          <a:xfrm>
            <a:off x="4297680" y="2404872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Islam Reda</a:t>
            </a:r>
            <a:endParaRPr dirty="0" sz="2000" lang="en-US"/>
          </a:p>
        </p:txBody>
      </p:sp>
      <p:sp>
        <p:nvSpPr>
          <p:cNvPr id="1048587" name="Name card 3"/>
          <p:cNvSpPr/>
          <p:nvPr/>
        </p:nvSpPr>
        <p:spPr>
          <a:xfrm>
            <a:off x="3566160" y="3118104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588" name="Shape 12"/>
          <p:cNvSpPr/>
          <p:nvPr/>
        </p:nvSpPr>
        <p:spPr>
          <a:xfrm>
            <a:off x="3749040" y="3218688"/>
            <a:ext cx="365760" cy="365760"/>
          </a:xfrm>
          <a:prstGeom prst="ellipse"/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589" name="Text 13"/>
          <p:cNvSpPr txBox="1"/>
          <p:nvPr/>
        </p:nvSpPr>
        <p:spPr>
          <a:xfrm>
            <a:off x="3749040" y="3218688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3</a:t>
            </a:r>
            <a:endParaRPr dirty="0" sz="1300" lang="en-US"/>
          </a:p>
        </p:txBody>
      </p:sp>
      <p:sp>
        <p:nvSpPr>
          <p:cNvPr id="1048590" name="Text 14"/>
          <p:cNvSpPr txBox="1"/>
          <p:nvPr/>
        </p:nvSpPr>
        <p:spPr>
          <a:xfrm>
            <a:off x="4297680" y="3118104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Mohamed Abdelwahab</a:t>
            </a:r>
            <a:endParaRPr dirty="0" sz="2000" lang="en-US"/>
          </a:p>
        </p:txBody>
      </p:sp>
      <p:sp>
        <p:nvSpPr>
          <p:cNvPr id="1048591" name="Name card 4"/>
          <p:cNvSpPr/>
          <p:nvPr/>
        </p:nvSpPr>
        <p:spPr>
          <a:xfrm>
            <a:off x="3566160" y="3831336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592" name="Shape 16"/>
          <p:cNvSpPr/>
          <p:nvPr/>
        </p:nvSpPr>
        <p:spPr>
          <a:xfrm>
            <a:off x="3749040" y="3931920"/>
            <a:ext cx="365760" cy="365760"/>
          </a:xfrm>
          <a:prstGeom prst="ellipse"/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593" name="Text 17"/>
          <p:cNvSpPr txBox="1"/>
          <p:nvPr/>
        </p:nvSpPr>
        <p:spPr>
          <a:xfrm>
            <a:off x="3749040" y="3931920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4</a:t>
            </a:r>
            <a:endParaRPr dirty="0" sz="1300" lang="en-US"/>
          </a:p>
        </p:txBody>
      </p:sp>
      <p:sp>
        <p:nvSpPr>
          <p:cNvPr id="1048594" name="Text 18"/>
          <p:cNvSpPr txBox="1"/>
          <p:nvPr/>
        </p:nvSpPr>
        <p:spPr>
          <a:xfrm>
            <a:off x="4297680" y="3831336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Jana Wael</a:t>
            </a:r>
            <a:endParaRPr dirty="0" sz="2000" lang="en-US"/>
          </a:p>
        </p:txBody>
      </p:sp>
      <p:sp>
        <p:nvSpPr>
          <p:cNvPr id="1048595" name="Name card 5"/>
          <p:cNvSpPr/>
          <p:nvPr/>
        </p:nvSpPr>
        <p:spPr>
          <a:xfrm>
            <a:off x="3566160" y="4544568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596" name="Shape 20"/>
          <p:cNvSpPr/>
          <p:nvPr/>
        </p:nvSpPr>
        <p:spPr>
          <a:xfrm>
            <a:off x="3749040" y="4645152"/>
            <a:ext cx="365760" cy="365760"/>
          </a:xfrm>
          <a:prstGeom prst="ellipse"/>
          <a:solidFill>
            <a:srgbClr val="E11D4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597" name="Text 21"/>
          <p:cNvSpPr txBox="1"/>
          <p:nvPr/>
        </p:nvSpPr>
        <p:spPr>
          <a:xfrm>
            <a:off x="3749040" y="4645152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5</a:t>
            </a:r>
            <a:endParaRPr dirty="0" sz="1300" lang="en-US"/>
          </a:p>
        </p:txBody>
      </p:sp>
      <p:sp>
        <p:nvSpPr>
          <p:cNvPr id="1048598" name="Text 22"/>
          <p:cNvSpPr txBox="1"/>
          <p:nvPr/>
        </p:nvSpPr>
        <p:spPr>
          <a:xfrm>
            <a:off x="4297680" y="4544568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Hana Adel</a:t>
            </a:r>
            <a:endParaRPr dirty="0" sz="2000" lang="en-US"/>
          </a:p>
        </p:txBody>
      </p:sp>
      <p:sp>
        <p:nvSpPr>
          <p:cNvPr id="1048599" name="Name card 6"/>
          <p:cNvSpPr/>
          <p:nvPr/>
        </p:nvSpPr>
        <p:spPr>
          <a:xfrm>
            <a:off x="3566160" y="5257800"/>
            <a:ext cx="5029200" cy="566928"/>
          </a:xfrm>
          <a:prstGeom prst="roundRect">
            <a:avLst>
              <a:gd name="adj" fmla="val 19355"/>
            </a:avLst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8600" name="Shape 24"/>
          <p:cNvSpPr/>
          <p:nvPr/>
        </p:nvSpPr>
        <p:spPr>
          <a:xfrm>
            <a:off x="3749040" y="5358384"/>
            <a:ext cx="365760" cy="365760"/>
          </a:xfrm>
          <a:prstGeom prst="ellipse"/>
          <a:solidFill>
            <a:srgbClr val="16A34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601" name="Text 25"/>
          <p:cNvSpPr txBox="1"/>
          <p:nvPr/>
        </p:nvSpPr>
        <p:spPr>
          <a:xfrm>
            <a:off x="3749040" y="5358384"/>
            <a:ext cx="365760" cy="36576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300" lang="en-US">
                <a:solidFill>
                  <a:srgbClr val="FFFFFF"/>
                </a:solidFill>
              </a:rPr>
              <a:t>6</a:t>
            </a:r>
            <a:endParaRPr dirty="0" sz="1300" lang="en-US"/>
          </a:p>
        </p:txBody>
      </p:sp>
      <p:sp>
        <p:nvSpPr>
          <p:cNvPr id="1048602" name="Text 26"/>
          <p:cNvSpPr txBox="1"/>
          <p:nvPr/>
        </p:nvSpPr>
        <p:spPr>
          <a:xfrm>
            <a:off x="4297680" y="5257800"/>
            <a:ext cx="4114800" cy="566928"/>
          </a:xfrm>
          <a:prstGeom prst="rect"/>
          <a:noFill/>
        </p:spPr>
        <p:txBody>
          <a:bodyPr anchor="ctr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0B1F3A"/>
                </a:solidFill>
              </a:rPr>
              <a:t>Ghadeer Mohamed</a:t>
            </a:r>
            <a:endParaRPr dirty="0" sz="2000" lang="en-US"/>
          </a:p>
        </p:txBody>
      </p:sp>
      <p:pic>
        <p:nvPicPr>
          <p:cNvPr id="2097152" name=""/>
          <p:cNvPicPr>
            <a:picLocks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 rot="0">
            <a:off x="9904092" y="5111495"/>
            <a:ext cx="2103876" cy="1858128"/>
          </a:xfrm>
          <a:prstGeom prst="rect"/>
        </p:spPr>
      </p:pic>
    </p:spTree>
  </p:cSld>
  <p:clrMapOvr>
    <a:masterClrMapping/>
  </p:clrMapOvr>
  <p:transition spd="slow"/>
  <p:timing>
    <p:tnLst>
      <p:par>
        <p:cTn dur="indefinite" id="1" nodeType="tmRoot" restart="never">
          <p:childTnLst>
            <p:seq concurrent="1" nextAc="seek">
              <p:cTn dur="indefinite" id="2" nodeType="mainSeq">
                <p:childTnLst>
                  <p:par>
                    <p:cTn fill="hold" id="3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 id="4">
                            <p:stCondLst>
                              <p:cond delay="0"/>
                            </p:stCondLst>
                            <p:childTnLst>
                              <p:par>
                                <p:cTn fill="hold" id="5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 id="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" nodeType="withEffect" presetClass="entr" presetID="10" presetSubtype="0">
                                  <p:stCondLst>
                                    <p:cond delay="70"/>
                                  </p:stCondLst>
                                  <p:childTnLst>
                                    <p:set>
                                      <p:cBhvr>
                                        <p:cTn dur="1" fill="hold" id="1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1"/>
                                        <p:tgtEl>
                                          <p:spTgt spid="10485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2"/>
                                        <p:tgtEl>
                                          <p:spTgt spid="1048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3" nodeType="withEffect" presetClass="entr" presetID="10" presetSubtype="0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dur="1" fill="hold" id="1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5"/>
                                        <p:tgtEl>
                                          <p:spTgt spid="10485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6"/>
                                        <p:tgtEl>
                                          <p:spTgt spid="1048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7" nodeType="withEffect" presetClass="entr" presetID="10" presetSubtype="0">
                                  <p:stCondLst>
                                    <p:cond delay="210"/>
                                  </p:stCondLst>
                                  <p:childTnLst>
                                    <p:set>
                                      <p:cBhvr>
                                        <p:cTn dur="1" fill="hold" id="1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9"/>
                                        <p:tgtEl>
                                          <p:spTgt spid="10485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0"/>
                                        <p:tgtEl>
                                          <p:spTgt spid="1048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1" nodeType="withEffect" presetClass="entr" presetID="10" presetSubtype="0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dur="1" fill="hold" id="2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3"/>
                                        <p:tgtEl>
                                          <p:spTgt spid="10485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4"/>
                                        <p:tgtEl>
                                          <p:spTgt spid="104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5" nodeType="withEffect" presetClass="entr" presetID="10" presetSubtype="0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dur="1" fill="hold" id="2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27"/>
                                        <p:tgtEl>
                                          <p:spTgt spid="10485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28"/>
                                        <p:tgtEl>
                                          <p:spTgt spid="10485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29" nodeType="withEffect" presetClass="entr" presetID="10" presetSubtype="0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dur="1" fill="hold" id="3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1"/>
                                        <p:tgtEl>
                                          <p:spTgt spid="10485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2"/>
                                        <p:tgtEl>
                                          <p:spTgt spid="10485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3" nodeType="withEffect" presetClass="entr" presetID="10" presetSubtype="0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dur="1" fill="hold" id="3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5"/>
                                        <p:tgtEl>
                                          <p:spTgt spid="10485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36"/>
                                        <p:tgtEl>
                                          <p:spTgt spid="10485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37" nodeType="withEffect" presetClass="entr" presetID="10" presetSubtype="0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dur="1" fill="hold" id="3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39"/>
                                        <p:tgtEl>
                                          <p:spTgt spid="10485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0"/>
                                        <p:tgtEl>
                                          <p:spTgt spid="104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1" nodeType="withEffect" presetClass="entr" presetID="10" presetSubtype="0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dur="1" fill="hold" id="4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3"/>
                                        <p:tgtEl>
                                          <p:spTgt spid="10485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4"/>
                                        <p:tgtEl>
                                          <p:spTgt spid="10485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5" nodeType="withEffect" presetClass="entr" presetID="10" presetSubtype="0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dur="1" fill="hold" id="4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47"/>
                                        <p:tgtEl>
                                          <p:spTgt spid="10485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48"/>
                                        <p:tgtEl>
                                          <p:spTgt spid="10485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49" nodeType="withEffect" presetClass="entr" presetID="10" presetSubtype="0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dur="1" fill="hold" id="5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1"/>
                                        <p:tgtEl>
                                          <p:spTgt spid="10485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2"/>
                                        <p:tgtEl>
                                          <p:spTgt spid="10485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3" nodeType="withEffect" presetClass="entr" presetID="10" presetSubtype="0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dur="1" fill="hold" id="5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5"/>
                                        <p:tgtEl>
                                          <p:spTgt spid="10485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56"/>
                                        <p:tgtEl>
                                          <p:spTgt spid="1048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57" nodeType="withEffect" presetClass="entr" presetID="10" presetSubtype="0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dur="1" fill="hold" id="5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59"/>
                                        <p:tgtEl>
                                          <p:spTgt spid="10485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0"/>
                                        <p:tgtEl>
                                          <p:spTgt spid="10485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1" nodeType="withEffect" presetClass="entr" presetID="10" presetSubtype="0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dur="1" fill="hold" id="6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3"/>
                                        <p:tgtEl>
                                          <p:spTgt spid="10485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4"/>
                                        <p:tgtEl>
                                          <p:spTgt spid="10485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5" nodeType="withEffect" presetClass="entr" presetID="10" presetSubtype="0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dur="1" fill="hold" id="6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67"/>
                                        <p:tgtEl>
                                          <p:spTgt spid="10485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68"/>
                                        <p:tgtEl>
                                          <p:spTgt spid="1048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69" nodeType="withEffect" presetClass="entr" presetID="10" presetSubtype="0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dur="1" fill="hold" id="7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1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2"/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3" nodeType="withEffect" presetClass="entr" presetID="10" presetSubtype="0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dur="1" fill="hold" id="7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5"/>
                                        <p:tgtEl>
                                          <p:spTgt spid="10485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76"/>
                                        <p:tgtEl>
                                          <p:spTgt spid="1048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77" nodeType="withEffect" presetClass="entr" presetID="10" presetSubtype="0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dur="1" fill="hold" id="7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79"/>
                                        <p:tgtEl>
                                          <p:spTgt spid="10485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0"/>
                                        <p:tgtEl>
                                          <p:spTgt spid="1048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1" nodeType="withEffect" presetClass="entr" presetID="10" presetSubtype="0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dur="1" fill="hold" id="8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3"/>
                                        <p:tgtEl>
                                          <p:spTgt spid="10485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4"/>
                                        <p:tgtEl>
                                          <p:spTgt spid="1048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5" nodeType="withEffect" presetClass="entr" presetID="10" presetSubtype="0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dur="1" fill="hold" id="86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87"/>
                                        <p:tgtEl>
                                          <p:spTgt spid="10485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88"/>
                                        <p:tgtEl>
                                          <p:spTgt spid="10485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89" nodeType="withEffect" presetClass="entr" presetID="10" presetSubtype="0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dur="1" fill="hold" id="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1"/>
                                        <p:tgtEl>
                                          <p:spTgt spid="1048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2"/>
                                        <p:tgtEl>
                                          <p:spTgt spid="1048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3" nodeType="withEffect" presetClass="entr" presetID="10" presetSubtype="0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dur="1" fill="hold" id="94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5"/>
                                        <p:tgtEl>
                                          <p:spTgt spid="10486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96"/>
                                        <p:tgtEl>
                                          <p:spTgt spid="10486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97" nodeType="withEffect" presetClass="entr" presetID="10" presetSubtype="0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dur="1" fill="hold" id="98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99"/>
                                        <p:tgtEl>
                                          <p:spTgt spid="10486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0"/>
                                        <p:tgtEl>
                                          <p:spTgt spid="10486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id="101" nodeType="withEffect" presetClass="entr" presetID="10" presetSubtype="0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dur="1" fill="hold" id="102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dur="600" id="103"/>
                                        <p:tgtEl>
                                          <p:spTgt spid="1048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dur="600" fill="hold" id="104"/>
                                        <p:tgtEl>
                                          <p:spTgt spid="1048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Computerized Accounting Software: Benefits and Core Tasks</dc:title>
  <dc:creator>PptxGenJS</dc:creator>
  <cp:lastModifiedBy>PptxGenJS</cp:lastModifiedBy>
  <dcterms:created xsi:type="dcterms:W3CDTF">2026-10-07T09:14:55Z</dcterms:created>
  <dcterms:modified xsi:type="dcterms:W3CDTF">2026-10-12T16:15:22Z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95a274aa95a946d9ba9a43241bbb2b82</vt:lpwstr>
  </property>
</Properties>
</file>